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46"/>
    <p:restoredTop sz="94674"/>
  </p:normalViewPr>
  <p:slideViewPr>
    <p:cSldViewPr snapToGrid="0" snapToObjects="1">
      <p:cViewPr varScale="1">
        <p:scale>
          <a:sx n="124" d="100"/>
          <a:sy n="124" d="100"/>
        </p:scale>
        <p:origin x="328" y="16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2/15/26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2/15/26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2/15/26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2/15/26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2/15/26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2/15/26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2/15/26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2.png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CCF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bhao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0" y="548640"/>
            <a:ext cx="1097280" cy="10972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0" y="1737360"/>
            <a:ext cx="121916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200" b="1">
                <a:solidFill>
                  <a:srgbClr val="CCFF00"/>
                </a:solidFill>
                <a:latin typeface="Calibri"/>
              </a:defRPr>
            </a:pPr>
            <a:r>
              <a:t>BHAO.PK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2468880"/>
            <a:ext cx="944849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>
                <a:solidFill>
                  <a:srgbClr val="FFFFFF"/>
                </a:solidFill>
                <a:latin typeface="Calibri"/>
              </a:defRPr>
            </a:pPr>
            <a:r>
              <a:t>Centralized E-Commerce Product Search &amp; Price Monitoring Engine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0" y="3108960"/>
            <a:ext cx="2133295" cy="36576"/>
          </a:xfrm>
          <a:prstGeom prst="rect">
            <a:avLst/>
          </a:prstGeom>
          <a:solidFill>
            <a:srgbClr val="CCF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0" y="3383280"/>
            <a:ext cx="121916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9CA3AF"/>
                </a:solidFill>
                <a:latin typeface="Calibri"/>
              </a:defRPr>
            </a:pPr>
            <a:r>
              <a:t>Supervised by: Dr. Najam Aziz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340967" y="4114800"/>
            <a:ext cx="2926080" cy="1005840"/>
          </a:xfrm>
          <a:prstGeom prst="roundRect">
            <a:avLst>
              <a:gd name="adj" fmla="val 5000"/>
            </a:avLst>
          </a:prstGeom>
          <a:solidFill>
            <a:srgbClr val="1A1A1A"/>
          </a:solidFill>
          <a:ln w="12700">
            <a:solidFill>
              <a:srgbClr val="3D4D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340967" y="429768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Calibri"/>
              </a:defRPr>
            </a:pPr>
            <a:r>
              <a:t>Muhammad Ahad Ali Khan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40967" y="4663440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CCFF00"/>
                </a:solidFill>
                <a:latin typeface="Calibri"/>
              </a:defRPr>
            </a:pPr>
            <a:r>
              <a:t>BCS213129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632807" y="4114800"/>
            <a:ext cx="2926080" cy="1005840"/>
          </a:xfrm>
          <a:prstGeom prst="roundRect">
            <a:avLst>
              <a:gd name="adj" fmla="val 5000"/>
            </a:avLst>
          </a:prstGeom>
          <a:solidFill>
            <a:srgbClr val="1A1A1A"/>
          </a:solidFill>
          <a:ln w="12700">
            <a:solidFill>
              <a:srgbClr val="3D4D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632807" y="429768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Calibri"/>
              </a:defRPr>
            </a:pPr>
            <a:r>
              <a:t>Sheryar Karim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32807" y="4663440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CCFF00"/>
                </a:solidFill>
                <a:latin typeface="Calibri"/>
              </a:defRPr>
            </a:pPr>
            <a:r>
              <a:t>BCS221074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924647" y="4114800"/>
            <a:ext cx="2926080" cy="1005840"/>
          </a:xfrm>
          <a:prstGeom prst="roundRect">
            <a:avLst>
              <a:gd name="adj" fmla="val 5000"/>
            </a:avLst>
          </a:prstGeom>
          <a:solidFill>
            <a:srgbClr val="1A1A1A"/>
          </a:solidFill>
          <a:ln w="12700">
            <a:solidFill>
              <a:srgbClr val="3D4D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7924647" y="429768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Calibri"/>
              </a:defRPr>
            </a:pPr>
            <a:r>
              <a:t>Muhammad Haris Jamali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924647" y="4663440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CCFF00"/>
                </a:solidFill>
                <a:latin typeface="Calibri"/>
              </a:defRPr>
            </a:pPr>
            <a:r>
              <a:t>BCS221027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0" y="5669280"/>
            <a:ext cx="121916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9CA3AF"/>
                </a:solidFill>
                <a:latin typeface="Calibri"/>
              </a:defRPr>
            </a:pPr>
            <a:r>
              <a:t>Department of Computer Science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0" y="5943600"/>
            <a:ext cx="121916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6B7280"/>
                </a:solidFill>
                <a:latin typeface="Calibri"/>
              </a:defRPr>
            </a:pPr>
            <a:r>
              <a:t>Capital University of Science &amp; Technology, Islamabad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0" y="6309360"/>
            <a:ext cx="121916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6B7280"/>
                </a:solidFill>
                <a:latin typeface="Calibri"/>
              </a:defRPr>
            </a:pPr>
            <a:r>
              <a:t>Fall 2025</a:t>
            </a:r>
          </a:p>
        </p:txBody>
      </p:sp>
      <p:sp>
        <p:nvSpPr>
          <p:cNvPr id="20" name="Rectangle 19"/>
          <p:cNvSpPr/>
          <p:nvPr/>
        </p:nvSpPr>
        <p:spPr>
          <a:xfrm>
            <a:off x="0" y="6803136"/>
            <a:ext cx="12191695" cy="54864"/>
          </a:xfrm>
          <a:prstGeom prst="rect">
            <a:avLst/>
          </a:prstGeom>
          <a:solidFill>
            <a:srgbClr val="CCF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54864" cy="6858000"/>
          </a:xfrm>
          <a:prstGeom prst="rect">
            <a:avLst/>
          </a:prstGeom>
          <a:solidFill>
            <a:srgbClr val="CCF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5486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CCFF00"/>
                </a:solidFill>
                <a:latin typeface="Calibri"/>
              </a:defRPr>
            </a:pPr>
            <a:r>
              <a:t>THE PROBLEM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097280"/>
            <a:ext cx="1828800" cy="36576"/>
          </a:xfrm>
          <a:prstGeom prst="rect">
            <a:avLst/>
          </a:prstGeom>
          <a:solidFill>
            <a:srgbClr val="CCF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212080" cy="1920240"/>
          </a:xfrm>
          <a:prstGeom prst="roundRect">
            <a:avLst>
              <a:gd name="adj" fmla="val 5000"/>
            </a:avLst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1005840" y="1920240"/>
            <a:ext cx="457200" cy="457200"/>
          </a:xfrm>
          <a:prstGeom prst="ellipse">
            <a:avLst/>
          </a:prstGeom>
          <a:solidFill>
            <a:srgbClr val="CCF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>
              <a:defRPr sz="1800" b="1">
                <a:solidFill>
                  <a:srgbClr val="000000"/>
                </a:solidFill>
              </a:defRPr>
            </a:pPr>
            <a: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45920" y="1920240"/>
            <a:ext cx="3931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Calibri"/>
              </a:defRPr>
            </a:pPr>
            <a:r>
              <a:t>No Centralized Platform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45920" y="2377440"/>
            <a:ext cx="39319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CA3AF"/>
                </a:solidFill>
                <a:latin typeface="Calibri"/>
              </a:defRPr>
            </a:pPr>
            <a:r>
              <a:t>Pakistani consumers have no unified platform to compare prices across multiple e-commerce stores like Daraz, PakStyle, and iShopping.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09360" y="1645920"/>
            <a:ext cx="5212080" cy="1920240"/>
          </a:xfrm>
          <a:prstGeom prst="roundRect">
            <a:avLst>
              <a:gd name="adj" fmla="val 5000"/>
            </a:avLst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Oval 9"/>
          <p:cNvSpPr/>
          <p:nvPr/>
        </p:nvSpPr>
        <p:spPr>
          <a:xfrm>
            <a:off x="6583680" y="1920240"/>
            <a:ext cx="457200" cy="457200"/>
          </a:xfrm>
          <a:prstGeom prst="ellipse">
            <a:avLst/>
          </a:prstGeom>
          <a:solidFill>
            <a:srgbClr val="CCF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>
              <a:defRPr sz="1800" b="1">
                <a:solidFill>
                  <a:srgbClr val="000000"/>
                </a:solidFill>
              </a:defRPr>
            </a:pPr>
            <a: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223760" y="1920240"/>
            <a:ext cx="3931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Calibri"/>
              </a:defRPr>
            </a:pPr>
            <a:r>
              <a:t>Manual Price Tracking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223760" y="2377440"/>
            <a:ext cx="39319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CA3AF"/>
                </a:solidFill>
                <a:latin typeface="Calibri"/>
              </a:defRPr>
            </a:pPr>
            <a:r>
              <a:t>Shoppers manually visit multiple websites and social media groups to find the best deals — a time-consuming and unreliable process.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3931920"/>
            <a:ext cx="5212080" cy="1920240"/>
          </a:xfrm>
          <a:prstGeom prst="roundRect">
            <a:avLst>
              <a:gd name="adj" fmla="val 5000"/>
            </a:avLst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Oval 13"/>
          <p:cNvSpPr/>
          <p:nvPr/>
        </p:nvSpPr>
        <p:spPr>
          <a:xfrm>
            <a:off x="1005840" y="4206240"/>
            <a:ext cx="457200" cy="457200"/>
          </a:xfrm>
          <a:prstGeom prst="ellipse">
            <a:avLst/>
          </a:prstGeom>
          <a:solidFill>
            <a:srgbClr val="CCF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>
              <a:defRPr sz="1800" b="1">
                <a:solidFill>
                  <a:srgbClr val="000000"/>
                </a:solidFill>
              </a:defRPr>
            </a:pPr>
            <a: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645920" y="4206240"/>
            <a:ext cx="3931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Calibri"/>
              </a:defRPr>
            </a:pPr>
            <a:r>
              <a:t>No Price History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645920" y="4663440"/>
            <a:ext cx="39319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CA3AF"/>
                </a:solidFill>
                <a:latin typeface="Calibri"/>
              </a:defRPr>
            </a:pPr>
            <a:r>
              <a:t>There is no way to view historical price trends, making it impossible to know if a “sale” price is genuinely discounted.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309360" y="3931920"/>
            <a:ext cx="5212080" cy="1920240"/>
          </a:xfrm>
          <a:prstGeom prst="roundRect">
            <a:avLst>
              <a:gd name="adj" fmla="val 5000"/>
            </a:avLst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Oval 17"/>
          <p:cNvSpPr/>
          <p:nvPr/>
        </p:nvSpPr>
        <p:spPr>
          <a:xfrm>
            <a:off x="6583680" y="4206240"/>
            <a:ext cx="457200" cy="457200"/>
          </a:xfrm>
          <a:prstGeom prst="ellipse">
            <a:avLst/>
          </a:prstGeom>
          <a:solidFill>
            <a:srgbClr val="CCF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>
              <a:defRPr sz="1800" b="1">
                <a:solidFill>
                  <a:srgbClr val="000000"/>
                </a:solidFill>
              </a:defRPr>
            </a:pPr>
            <a: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223760" y="4206240"/>
            <a:ext cx="3931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Calibri"/>
              </a:defRPr>
            </a:pPr>
            <a:r>
              <a:t>Missed Deals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223760" y="4663440"/>
            <a:ext cx="39319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CA3AF"/>
                </a:solidFill>
                <a:latin typeface="Calibri"/>
              </a:defRPr>
            </a:pPr>
            <a:r>
              <a:t>Without automated alerts, consumers miss price drops on products they’re interested in, often paying more than necessary.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54864" cy="6858000"/>
          </a:xfrm>
          <a:prstGeom prst="rect">
            <a:avLst/>
          </a:prstGeom>
          <a:solidFill>
            <a:srgbClr val="CCF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CCFF00"/>
                </a:solidFill>
                <a:latin typeface="Calibri"/>
              </a:defRPr>
            </a:pPr>
            <a:r>
              <a:t>OUR SOLUTION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097280"/>
            <a:ext cx="1828800" cy="36576"/>
          </a:xfrm>
          <a:prstGeom prst="rect">
            <a:avLst/>
          </a:prstGeom>
          <a:solidFill>
            <a:srgbClr val="CCF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31520" y="1463040"/>
            <a:ext cx="6400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FFFFFF"/>
                </a:solidFill>
                <a:latin typeface="Calibri"/>
              </a:defRPr>
            </a:pPr>
            <a:r>
              <a:t>Bhao.pk is Pakistan’s first intelligent price comparison platform that aggregates products from multiple Pakistani e-commerce stores into one unified experience.</a:t>
            </a:r>
          </a:p>
        </p:txBody>
      </p:sp>
      <p:sp>
        <p:nvSpPr>
          <p:cNvPr id="6" name="Oval 5"/>
          <p:cNvSpPr/>
          <p:nvPr/>
        </p:nvSpPr>
        <p:spPr>
          <a:xfrm>
            <a:off x="914400" y="2633472"/>
            <a:ext cx="109728" cy="109728"/>
          </a:xfrm>
          <a:prstGeom prst="ellipse">
            <a:avLst/>
          </a:prstGeom>
          <a:solidFill>
            <a:srgbClr val="CCF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280160" y="2560320"/>
            <a:ext cx="64008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9CA3AF"/>
                </a:solidFill>
                <a:latin typeface="Calibri"/>
              </a:defRPr>
            </a:pPr>
            <a:r>
              <a:rPr dirty="0"/>
              <a:t>Search once, compare prices across </a:t>
            </a:r>
            <a:r>
              <a:rPr dirty="0" err="1"/>
              <a:t>Daraz</a:t>
            </a:r>
            <a:r>
              <a:rPr dirty="0"/>
              <a:t>, </a:t>
            </a:r>
            <a:r>
              <a:rPr lang="en-US" dirty="0" err="1"/>
              <a:t>Shopive</a:t>
            </a:r>
            <a:r>
              <a:rPr dirty="0"/>
              <a:t>, </a:t>
            </a:r>
            <a:r>
              <a:rPr lang="en-US" dirty="0" err="1"/>
              <a:t>Telemart</a:t>
            </a:r>
            <a:r>
              <a:rPr dirty="0"/>
              <a:t> &amp; more</a:t>
            </a:r>
          </a:p>
        </p:txBody>
      </p:sp>
      <p:sp>
        <p:nvSpPr>
          <p:cNvPr id="8" name="Oval 7"/>
          <p:cNvSpPr/>
          <p:nvPr/>
        </p:nvSpPr>
        <p:spPr>
          <a:xfrm>
            <a:off x="914400" y="3136392"/>
            <a:ext cx="109728" cy="109728"/>
          </a:xfrm>
          <a:prstGeom prst="ellipse">
            <a:avLst/>
          </a:prstGeom>
          <a:solidFill>
            <a:srgbClr val="CCF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280160" y="3063240"/>
            <a:ext cx="6400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9CA3AF"/>
                </a:solidFill>
                <a:latin typeface="Calibri"/>
              </a:defRPr>
            </a:pPr>
            <a:r>
              <a:t>Sort &amp; filter results by price, store, and category</a:t>
            </a:r>
          </a:p>
        </p:txBody>
      </p:sp>
      <p:sp>
        <p:nvSpPr>
          <p:cNvPr id="10" name="Oval 9"/>
          <p:cNvSpPr/>
          <p:nvPr/>
        </p:nvSpPr>
        <p:spPr>
          <a:xfrm>
            <a:off x="914400" y="3639312"/>
            <a:ext cx="109728" cy="109728"/>
          </a:xfrm>
          <a:prstGeom prst="ellipse">
            <a:avLst/>
          </a:prstGeom>
          <a:solidFill>
            <a:srgbClr val="CCF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280160" y="3566160"/>
            <a:ext cx="6400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9CA3AF"/>
                </a:solidFill>
                <a:latin typeface="Calibri"/>
              </a:defRPr>
            </a:pPr>
            <a:r>
              <a:t>Track price history with visual charts</a:t>
            </a:r>
          </a:p>
        </p:txBody>
      </p:sp>
      <p:sp>
        <p:nvSpPr>
          <p:cNvPr id="12" name="Oval 11"/>
          <p:cNvSpPr/>
          <p:nvPr/>
        </p:nvSpPr>
        <p:spPr>
          <a:xfrm>
            <a:off x="914400" y="4142232"/>
            <a:ext cx="109728" cy="109728"/>
          </a:xfrm>
          <a:prstGeom prst="ellipse">
            <a:avLst/>
          </a:prstGeom>
          <a:solidFill>
            <a:srgbClr val="CCF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280160" y="4069080"/>
            <a:ext cx="6400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9CA3AF"/>
                </a:solidFill>
                <a:latin typeface="Calibri"/>
              </a:defRPr>
            </a:pPr>
            <a:r>
              <a:t>Set price alerts — get notified when prices drop</a:t>
            </a:r>
          </a:p>
        </p:txBody>
      </p:sp>
      <p:sp>
        <p:nvSpPr>
          <p:cNvPr id="14" name="Oval 13"/>
          <p:cNvSpPr/>
          <p:nvPr/>
        </p:nvSpPr>
        <p:spPr>
          <a:xfrm>
            <a:off x="914400" y="4645152"/>
            <a:ext cx="109728" cy="109728"/>
          </a:xfrm>
          <a:prstGeom prst="ellipse">
            <a:avLst/>
          </a:prstGeom>
          <a:solidFill>
            <a:srgbClr val="CCF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1280160" y="4572000"/>
            <a:ext cx="6400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9CA3AF"/>
                </a:solidFill>
                <a:latin typeface="Calibri"/>
              </a:defRPr>
            </a:pPr>
            <a:r>
              <a:t>Save products to your personal wishlist</a:t>
            </a:r>
          </a:p>
        </p:txBody>
      </p:sp>
      <p:sp>
        <p:nvSpPr>
          <p:cNvPr id="16" name="Oval 15"/>
          <p:cNvSpPr/>
          <p:nvPr/>
        </p:nvSpPr>
        <p:spPr>
          <a:xfrm>
            <a:off x="914400" y="5148072"/>
            <a:ext cx="109728" cy="109728"/>
          </a:xfrm>
          <a:prstGeom prst="ellipse">
            <a:avLst/>
          </a:prstGeom>
          <a:solidFill>
            <a:srgbClr val="CCF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1280160" y="5074920"/>
            <a:ext cx="6400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9CA3AF"/>
                </a:solidFill>
                <a:latin typeface="Calibri"/>
              </a:defRPr>
            </a:pPr>
            <a:r>
              <a:t>Available on both Mobile App and Web</a:t>
            </a:r>
          </a:p>
        </p:txBody>
      </p:sp>
      <p:pic>
        <p:nvPicPr>
          <p:cNvPr id="18" name="Picture 17" descr="4.1-Search scree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01703" y="865084"/>
            <a:ext cx="2121408" cy="4714240"/>
          </a:xfrm>
          <a:prstGeom prst="rect">
            <a:avLst/>
          </a:prstGeom>
        </p:spPr>
      </p:pic>
      <p:pic>
        <p:nvPicPr>
          <p:cNvPr id="19" name="Picture 18" descr="4.2-Search results  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21265" y="822960"/>
            <a:ext cx="2121408" cy="471424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54864" cy="6858000"/>
          </a:xfrm>
          <a:prstGeom prst="rect">
            <a:avLst/>
          </a:prstGeom>
          <a:solidFill>
            <a:srgbClr val="CCF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CCFF00"/>
                </a:solidFill>
                <a:latin typeface="Calibri"/>
              </a:defRPr>
            </a:pPr>
            <a:r>
              <a:t>KEY FEATURES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914400"/>
            <a:ext cx="1828800" cy="36576"/>
          </a:xfrm>
          <a:prstGeom prst="rect">
            <a:avLst/>
          </a:prstGeom>
          <a:solidFill>
            <a:srgbClr val="CCF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548640" y="1280160"/>
            <a:ext cx="2697480" cy="2194560"/>
          </a:xfrm>
          <a:prstGeom prst="roundRect">
            <a:avLst>
              <a:gd name="adj" fmla="val 5000"/>
            </a:avLst>
          </a:prstGeom>
          <a:solidFill>
            <a:srgbClr val="1A1A1A"/>
          </a:solidFill>
          <a:ln w="12700">
            <a:solidFill>
              <a:srgbClr val="3D4D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22960" y="146304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CCFF00"/>
                </a:solidFill>
                <a:latin typeface="Calibri"/>
              </a:defRPr>
            </a:pPr>
            <a: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1874520"/>
            <a:ext cx="2148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Calibri"/>
              </a:defRPr>
            </a:pPr>
            <a:r>
              <a:t>Smart Search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194560"/>
            <a:ext cx="21488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CA3AF"/>
                </a:solidFill>
                <a:latin typeface="Calibri"/>
              </a:defRPr>
            </a:pPr>
            <a:r>
              <a:t>Search products across multiple Pakistani stores with a single query. Real-time suggestions as you type.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429000" y="1280160"/>
            <a:ext cx="2697480" cy="2194560"/>
          </a:xfrm>
          <a:prstGeom prst="roundRect">
            <a:avLst>
              <a:gd name="adj" fmla="val 5000"/>
            </a:avLst>
          </a:prstGeom>
          <a:solidFill>
            <a:srgbClr val="1A1A1A"/>
          </a:solidFill>
          <a:ln w="12700">
            <a:solidFill>
              <a:srgbClr val="3D4D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3703320" y="146304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CCFF00"/>
                </a:solidFill>
                <a:latin typeface="Calibri"/>
              </a:defRPr>
            </a:pPr>
            <a:r>
              <a:t>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703320" y="1874520"/>
            <a:ext cx="2148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Calibri"/>
              </a:defRPr>
            </a:pPr>
            <a:r>
              <a:t>Price Comparison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703320" y="2194560"/>
            <a:ext cx="214884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CA3AF"/>
                </a:solidFill>
                <a:latin typeface="Calibri"/>
              </a:defRPr>
            </a:pPr>
            <a:r>
              <a:rPr dirty="0"/>
              <a:t>View prices from different vendors on a unified product page. Instantly spot the best deal.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309360" y="1280160"/>
            <a:ext cx="2697480" cy="2194560"/>
          </a:xfrm>
          <a:prstGeom prst="roundRect">
            <a:avLst>
              <a:gd name="adj" fmla="val 5000"/>
            </a:avLst>
          </a:prstGeom>
          <a:solidFill>
            <a:srgbClr val="1A1A1A"/>
          </a:solidFill>
          <a:ln w="12700">
            <a:solidFill>
              <a:srgbClr val="3D4D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583680" y="146304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CCFF00"/>
                </a:solidFill>
                <a:latin typeface="Calibri"/>
              </a:defRPr>
            </a:pPr>
            <a:r>
              <a:t>03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83680" y="1874520"/>
            <a:ext cx="2148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Calibri"/>
              </a:defRPr>
            </a:pPr>
            <a:r>
              <a:t>Sort &amp; Filter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83680" y="2194560"/>
            <a:ext cx="21488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CA3AF"/>
                </a:solidFill>
                <a:latin typeface="Calibri"/>
              </a:defRPr>
            </a:pPr>
            <a:r>
              <a:t>Sort results by price (low to high) and filter by specific stores or price ranges.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189720" y="1280160"/>
            <a:ext cx="2697480" cy="2194560"/>
          </a:xfrm>
          <a:prstGeom prst="roundRect">
            <a:avLst>
              <a:gd name="adj" fmla="val 5000"/>
            </a:avLst>
          </a:prstGeom>
          <a:solidFill>
            <a:srgbClr val="1A1A1A"/>
          </a:solidFill>
          <a:ln w="12700">
            <a:solidFill>
              <a:srgbClr val="3D4D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9464040" y="146304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CCFF00"/>
                </a:solidFill>
                <a:latin typeface="Calibri"/>
              </a:defRPr>
            </a:pPr>
            <a:r>
              <a:t>04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464040" y="1874520"/>
            <a:ext cx="2148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Calibri"/>
              </a:defRPr>
            </a:pPr>
            <a:r>
              <a:t>Price Alerts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464040" y="2194560"/>
            <a:ext cx="21488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CA3AF"/>
                </a:solidFill>
                <a:latin typeface="Calibri"/>
              </a:defRPr>
            </a:pPr>
            <a:r>
              <a:t>Set a target price for any product. The system monitors prices and notifies you when it drops.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48640" y="3840480"/>
            <a:ext cx="2697480" cy="2194560"/>
          </a:xfrm>
          <a:prstGeom prst="roundRect">
            <a:avLst>
              <a:gd name="adj" fmla="val 5000"/>
            </a:avLst>
          </a:prstGeom>
          <a:solidFill>
            <a:srgbClr val="1A1A1A"/>
          </a:solidFill>
          <a:ln w="12700">
            <a:solidFill>
              <a:srgbClr val="3D4D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822960" y="402336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CCFF00"/>
                </a:solidFill>
                <a:latin typeface="Calibri"/>
              </a:defRPr>
            </a:pPr>
            <a:r>
              <a:t>05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2960" y="4434840"/>
            <a:ext cx="2148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Calibri"/>
              </a:defRPr>
            </a:pPr>
            <a:r>
              <a:t>Price History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2960" y="4754880"/>
            <a:ext cx="21488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CA3AF"/>
                </a:solidFill>
                <a:latin typeface="Calibri"/>
              </a:defRPr>
            </a:pPr>
            <a:r>
              <a:t>View graphical charts showing how a product’s price has changed over time across stores.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3429000" y="3840480"/>
            <a:ext cx="2697480" cy="2194560"/>
          </a:xfrm>
          <a:prstGeom prst="roundRect">
            <a:avLst>
              <a:gd name="adj" fmla="val 5000"/>
            </a:avLst>
          </a:prstGeom>
          <a:solidFill>
            <a:srgbClr val="1A1A1A"/>
          </a:solidFill>
          <a:ln w="12700">
            <a:solidFill>
              <a:srgbClr val="3D4D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3703320" y="402336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CCFF00"/>
                </a:solidFill>
                <a:latin typeface="Calibri"/>
              </a:defRPr>
            </a:pPr>
            <a:r>
              <a:t>06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703320" y="4434840"/>
            <a:ext cx="2148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Calibri"/>
              </a:defRPr>
            </a:pPr>
            <a:r>
              <a:t>Wishlist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703320" y="4754880"/>
            <a:ext cx="21488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CA3AF"/>
                </a:solidFill>
                <a:latin typeface="Calibri"/>
              </a:defRPr>
            </a:pPr>
            <a:r>
              <a:t>Save interesting products to your personal wishlist for quick access later.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309360" y="3840480"/>
            <a:ext cx="2697480" cy="2194560"/>
          </a:xfrm>
          <a:prstGeom prst="roundRect">
            <a:avLst>
              <a:gd name="adj" fmla="val 5000"/>
            </a:avLst>
          </a:prstGeom>
          <a:solidFill>
            <a:srgbClr val="1A1A1A"/>
          </a:solidFill>
          <a:ln w="12700">
            <a:solidFill>
              <a:srgbClr val="3D4D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6583680" y="402336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CCFF00"/>
                </a:solidFill>
                <a:latin typeface="Calibri"/>
              </a:defRPr>
            </a:pPr>
            <a:r>
              <a:t>07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583680" y="4434840"/>
            <a:ext cx="2148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Calibri"/>
              </a:defRPr>
            </a:pPr>
            <a:r>
              <a:t>User Accounts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583680" y="4754880"/>
            <a:ext cx="21488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CA3AF"/>
                </a:solidFill>
                <a:latin typeface="Calibri"/>
              </a:defRPr>
            </a:pPr>
            <a:r>
              <a:t>Create an account to sync your wishlist, alerts, and preferences across devices.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9189720" y="3840480"/>
            <a:ext cx="2697480" cy="2194560"/>
          </a:xfrm>
          <a:prstGeom prst="roundRect">
            <a:avLst>
              <a:gd name="adj" fmla="val 5000"/>
            </a:avLst>
          </a:prstGeom>
          <a:solidFill>
            <a:srgbClr val="1A1A1A"/>
          </a:solidFill>
          <a:ln w="12700">
            <a:solidFill>
              <a:srgbClr val="3D4D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9464040" y="402336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CCFF00"/>
                </a:solidFill>
                <a:latin typeface="Calibri"/>
              </a:defRPr>
            </a:pPr>
            <a:r>
              <a:t>08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464040" y="4434840"/>
            <a:ext cx="2148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Calibri"/>
              </a:defRPr>
            </a:pPr>
            <a:r>
              <a:t>Admin Dashboard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464040" y="4754880"/>
            <a:ext cx="21488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CA3AF"/>
                </a:solidFill>
                <a:latin typeface="Calibri"/>
              </a:defRPr>
            </a:pPr>
            <a:r>
              <a:t>Administrative panel for monitoring platform statistics and system health.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54864" cy="6858000"/>
          </a:xfrm>
          <a:prstGeom prst="rect">
            <a:avLst/>
          </a:prstGeom>
          <a:solidFill>
            <a:srgbClr val="CCF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CCFF00"/>
                </a:solidFill>
                <a:latin typeface="Calibri"/>
              </a:defRPr>
            </a:pPr>
            <a:r>
              <a:t>SYSTEM ARCHITECTURE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914400"/>
            <a:ext cx="2286000" cy="36576"/>
          </a:xfrm>
          <a:prstGeom prst="rect">
            <a:avLst/>
          </a:prstGeom>
          <a:solidFill>
            <a:srgbClr val="CCF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731520" y="1280160"/>
            <a:ext cx="10698480" cy="53035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6" name="Picture 5" descr="softwareArchitectureDiagra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371600"/>
            <a:ext cx="10332720" cy="50292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54864" cy="6858000"/>
          </a:xfrm>
          <a:prstGeom prst="rect">
            <a:avLst/>
          </a:prstGeom>
          <a:solidFill>
            <a:srgbClr val="CCF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CCFF00"/>
                </a:solidFill>
                <a:latin typeface="Calibri"/>
              </a:defRPr>
            </a:pPr>
            <a:r>
              <a:t>CLASS DIAGRAM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914400"/>
            <a:ext cx="1828800" cy="36576"/>
          </a:xfrm>
          <a:prstGeom prst="rect">
            <a:avLst/>
          </a:prstGeom>
          <a:solidFill>
            <a:srgbClr val="CCF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731520" y="1280160"/>
            <a:ext cx="10698480" cy="53035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6" name="Picture 5" descr="classDiagramUpdat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371600"/>
            <a:ext cx="10332720" cy="50292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54864" cy="6858000"/>
          </a:xfrm>
          <a:prstGeom prst="rect">
            <a:avLst/>
          </a:prstGeom>
          <a:solidFill>
            <a:srgbClr val="CCF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CCFF00"/>
                </a:solidFill>
                <a:latin typeface="Calibri"/>
              </a:defRPr>
            </a:pPr>
            <a:r>
              <a:t>TECHNOLOGY STACK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914400"/>
            <a:ext cx="2286000" cy="36576"/>
          </a:xfrm>
          <a:prstGeom prst="rect">
            <a:avLst/>
          </a:prstGeom>
          <a:solidFill>
            <a:srgbClr val="CCF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548640" y="1371600"/>
            <a:ext cx="2697480" cy="4754880"/>
          </a:xfrm>
          <a:prstGeom prst="roundRect">
            <a:avLst>
              <a:gd name="adj" fmla="val 5000"/>
            </a:avLst>
          </a:prstGeom>
          <a:solidFill>
            <a:srgbClr val="1A1A1A"/>
          </a:solidFill>
          <a:ln w="12700">
            <a:solidFill>
              <a:srgbClr val="3D4D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48640" y="1645920"/>
            <a:ext cx="2697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CCFF00"/>
                </a:solidFill>
                <a:latin typeface="Calibri"/>
              </a:defRPr>
            </a:pPr>
            <a:r>
              <a:t>MOBILE APP</a:t>
            </a:r>
          </a:p>
        </p:txBody>
      </p:sp>
      <p:sp>
        <p:nvSpPr>
          <p:cNvPr id="7" name="Rectangle 6"/>
          <p:cNvSpPr/>
          <p:nvPr/>
        </p:nvSpPr>
        <p:spPr>
          <a:xfrm>
            <a:off x="1280160" y="2103120"/>
            <a:ext cx="1234440" cy="36576"/>
          </a:xfrm>
          <a:prstGeom prst="rect">
            <a:avLst/>
          </a:prstGeom>
          <a:solidFill>
            <a:srgbClr val="CCF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731520" y="2468880"/>
            <a:ext cx="2331720" cy="594360"/>
          </a:xfrm>
          <a:prstGeom prst="roundRect">
            <a:avLst>
              <a:gd name="adj" fmla="val 5000"/>
            </a:avLst>
          </a:prstGeom>
          <a:solidFill>
            <a:srgbClr val="0D0D0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31520" y="2578608"/>
            <a:ext cx="2331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0">
                <a:solidFill>
                  <a:srgbClr val="FFFFFF"/>
                </a:solidFill>
                <a:latin typeface="Calibri"/>
              </a:defRPr>
            </a:pPr>
            <a:r>
              <a:t>React Native 0.81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3291840"/>
            <a:ext cx="2331720" cy="594360"/>
          </a:xfrm>
          <a:prstGeom prst="roundRect">
            <a:avLst>
              <a:gd name="adj" fmla="val 5000"/>
            </a:avLst>
          </a:prstGeom>
          <a:solidFill>
            <a:srgbClr val="0D0D0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31520" y="3401568"/>
            <a:ext cx="2331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0">
                <a:solidFill>
                  <a:srgbClr val="FFFFFF"/>
                </a:solidFill>
                <a:latin typeface="Calibri"/>
              </a:defRPr>
            </a:pPr>
            <a:r>
              <a:t>Expo SDK 54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4114800"/>
            <a:ext cx="2331720" cy="594360"/>
          </a:xfrm>
          <a:prstGeom prst="roundRect">
            <a:avLst>
              <a:gd name="adj" fmla="val 5000"/>
            </a:avLst>
          </a:prstGeom>
          <a:solidFill>
            <a:srgbClr val="0D0D0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731520" y="4224528"/>
            <a:ext cx="2331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0">
                <a:solidFill>
                  <a:srgbClr val="FFFFFF"/>
                </a:solidFill>
                <a:latin typeface="Calibri"/>
              </a:defRPr>
            </a:pPr>
            <a:r>
              <a:t>TypeScript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4937760"/>
            <a:ext cx="2331720" cy="594360"/>
          </a:xfrm>
          <a:prstGeom prst="roundRect">
            <a:avLst>
              <a:gd name="adj" fmla="val 5000"/>
            </a:avLst>
          </a:prstGeom>
          <a:solidFill>
            <a:srgbClr val="0D0D0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731520" y="5047488"/>
            <a:ext cx="2331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0">
                <a:solidFill>
                  <a:srgbClr val="FFFFFF"/>
                </a:solidFill>
                <a:latin typeface="Calibri"/>
              </a:defRPr>
            </a:pPr>
            <a:r>
              <a:rPr dirty="0" err="1"/>
              <a:t>AsyncStorage</a:t>
            </a:r>
            <a:endParaRPr dirty="0"/>
          </a:p>
        </p:txBody>
      </p:sp>
      <p:sp>
        <p:nvSpPr>
          <p:cNvPr id="16" name="Rounded Rectangle 15"/>
          <p:cNvSpPr/>
          <p:nvPr/>
        </p:nvSpPr>
        <p:spPr>
          <a:xfrm>
            <a:off x="3429000" y="1371600"/>
            <a:ext cx="2697480" cy="4754880"/>
          </a:xfrm>
          <a:prstGeom prst="roundRect">
            <a:avLst>
              <a:gd name="adj" fmla="val 5000"/>
            </a:avLst>
          </a:prstGeom>
          <a:solidFill>
            <a:srgbClr val="1A1A1A"/>
          </a:solidFill>
          <a:ln w="12700">
            <a:solidFill>
              <a:srgbClr val="3D4D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3429000" y="1645920"/>
            <a:ext cx="2697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CCFF00"/>
                </a:solidFill>
                <a:latin typeface="Calibri"/>
              </a:defRPr>
            </a:pPr>
            <a:r>
              <a:t>WEB APP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160520" y="2103120"/>
            <a:ext cx="1234440" cy="36576"/>
          </a:xfrm>
          <a:prstGeom prst="rect">
            <a:avLst/>
          </a:prstGeom>
          <a:solidFill>
            <a:srgbClr val="CCF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ounded Rectangle 18"/>
          <p:cNvSpPr/>
          <p:nvPr/>
        </p:nvSpPr>
        <p:spPr>
          <a:xfrm>
            <a:off x="3611880" y="2468880"/>
            <a:ext cx="2331720" cy="594360"/>
          </a:xfrm>
          <a:prstGeom prst="roundRect">
            <a:avLst>
              <a:gd name="adj" fmla="val 5000"/>
            </a:avLst>
          </a:prstGeom>
          <a:solidFill>
            <a:srgbClr val="0D0D0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3611880" y="2578608"/>
            <a:ext cx="2331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0">
                <a:solidFill>
                  <a:srgbClr val="FFFFFF"/>
                </a:solidFill>
                <a:latin typeface="Calibri"/>
              </a:defRPr>
            </a:pPr>
            <a:r>
              <a:t>Next.js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611880" y="3291840"/>
            <a:ext cx="2331720" cy="594360"/>
          </a:xfrm>
          <a:prstGeom prst="roundRect">
            <a:avLst>
              <a:gd name="adj" fmla="val 5000"/>
            </a:avLst>
          </a:prstGeom>
          <a:solidFill>
            <a:srgbClr val="0D0D0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3611880" y="3401568"/>
            <a:ext cx="2331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0">
                <a:solidFill>
                  <a:srgbClr val="FFFFFF"/>
                </a:solidFill>
                <a:latin typeface="Calibri"/>
              </a:defRPr>
            </a:pPr>
            <a:r>
              <a:t>React 19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3611880" y="4114800"/>
            <a:ext cx="2331720" cy="594360"/>
          </a:xfrm>
          <a:prstGeom prst="roundRect">
            <a:avLst>
              <a:gd name="adj" fmla="val 5000"/>
            </a:avLst>
          </a:prstGeom>
          <a:solidFill>
            <a:srgbClr val="0D0D0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3611880" y="4224528"/>
            <a:ext cx="2331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0">
                <a:solidFill>
                  <a:srgbClr val="FFFFFF"/>
                </a:solidFill>
                <a:latin typeface="Calibri"/>
              </a:defRPr>
            </a:pPr>
            <a:r>
              <a:t>TypeScript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3611880" y="4937760"/>
            <a:ext cx="2331720" cy="594360"/>
          </a:xfrm>
          <a:prstGeom prst="roundRect">
            <a:avLst>
              <a:gd name="adj" fmla="val 5000"/>
            </a:avLst>
          </a:prstGeom>
          <a:solidFill>
            <a:srgbClr val="0D0D0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3611880" y="5047488"/>
            <a:ext cx="2331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0">
                <a:solidFill>
                  <a:srgbClr val="FFFFFF"/>
                </a:solidFill>
                <a:latin typeface="Calibri"/>
              </a:defRPr>
            </a:pPr>
            <a:r>
              <a:t>Responsive Design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309360" y="1371600"/>
            <a:ext cx="2697480" cy="4754880"/>
          </a:xfrm>
          <a:prstGeom prst="roundRect">
            <a:avLst>
              <a:gd name="adj" fmla="val 5000"/>
            </a:avLst>
          </a:prstGeom>
          <a:solidFill>
            <a:srgbClr val="1A1A1A"/>
          </a:solidFill>
          <a:ln w="12700">
            <a:solidFill>
              <a:srgbClr val="3D4D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6309360" y="1645920"/>
            <a:ext cx="2697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CCFF00"/>
                </a:solidFill>
                <a:latin typeface="Calibri"/>
              </a:defRPr>
            </a:pPr>
            <a:r>
              <a:t>BACKEND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040880" y="2103120"/>
            <a:ext cx="1234440" cy="36576"/>
          </a:xfrm>
          <a:prstGeom prst="rect">
            <a:avLst/>
          </a:prstGeom>
          <a:solidFill>
            <a:srgbClr val="CCF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ounded Rectangle 29"/>
          <p:cNvSpPr/>
          <p:nvPr/>
        </p:nvSpPr>
        <p:spPr>
          <a:xfrm>
            <a:off x="6492240" y="2468880"/>
            <a:ext cx="2331720" cy="594360"/>
          </a:xfrm>
          <a:prstGeom prst="roundRect">
            <a:avLst>
              <a:gd name="adj" fmla="val 5000"/>
            </a:avLst>
          </a:prstGeom>
          <a:solidFill>
            <a:srgbClr val="0D0D0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6492240" y="2578608"/>
            <a:ext cx="2331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0">
                <a:solidFill>
                  <a:srgbClr val="FFFFFF"/>
                </a:solidFill>
                <a:latin typeface="Calibri"/>
              </a:defRPr>
            </a:pPr>
            <a:r>
              <a:t>RESTful API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492240" y="3291840"/>
            <a:ext cx="2331720" cy="594360"/>
          </a:xfrm>
          <a:prstGeom prst="roundRect">
            <a:avLst>
              <a:gd name="adj" fmla="val 5000"/>
            </a:avLst>
          </a:prstGeom>
          <a:solidFill>
            <a:srgbClr val="0D0D0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6492240" y="3401568"/>
            <a:ext cx="2331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0">
                <a:solidFill>
                  <a:srgbClr val="FFFFFF"/>
                </a:solidFill>
                <a:latin typeface="Calibri"/>
              </a:defRPr>
            </a:pPr>
            <a:r>
              <a:t>JWT Authentication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492240" y="4114800"/>
            <a:ext cx="2331720" cy="594360"/>
          </a:xfrm>
          <a:prstGeom prst="roundRect">
            <a:avLst>
              <a:gd name="adj" fmla="val 5000"/>
            </a:avLst>
          </a:prstGeom>
          <a:solidFill>
            <a:srgbClr val="0D0D0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6492240" y="4224528"/>
            <a:ext cx="2331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0">
                <a:solidFill>
                  <a:srgbClr val="FFFFFF"/>
                </a:solidFill>
                <a:latin typeface="Calibri"/>
              </a:defRPr>
            </a:pPr>
            <a:r>
              <a:t>Web Scraping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492240" y="4937760"/>
            <a:ext cx="2331720" cy="594360"/>
          </a:xfrm>
          <a:prstGeom prst="roundRect">
            <a:avLst>
              <a:gd name="adj" fmla="val 5000"/>
            </a:avLst>
          </a:prstGeom>
          <a:solidFill>
            <a:srgbClr val="0D0D0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6492240" y="5047488"/>
            <a:ext cx="2331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0">
                <a:solidFill>
                  <a:srgbClr val="FFFFFF"/>
                </a:solidFill>
                <a:latin typeface="Calibri"/>
              </a:defRPr>
            </a:pPr>
            <a:r>
              <a:t>Price Monitoring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9189720" y="1371600"/>
            <a:ext cx="2697480" cy="4754880"/>
          </a:xfrm>
          <a:prstGeom prst="roundRect">
            <a:avLst>
              <a:gd name="adj" fmla="val 5000"/>
            </a:avLst>
          </a:prstGeom>
          <a:solidFill>
            <a:srgbClr val="1A1A1A"/>
          </a:solidFill>
          <a:ln w="12700">
            <a:solidFill>
              <a:srgbClr val="3D4D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9189720" y="1645920"/>
            <a:ext cx="2697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CCFF00"/>
                </a:solidFill>
                <a:latin typeface="Calibri"/>
              </a:defRPr>
            </a:pPr>
            <a:r>
              <a:t>DESIGN</a:t>
            </a:r>
          </a:p>
        </p:txBody>
      </p:sp>
      <p:sp>
        <p:nvSpPr>
          <p:cNvPr id="40" name="Rectangle 39"/>
          <p:cNvSpPr/>
          <p:nvPr/>
        </p:nvSpPr>
        <p:spPr>
          <a:xfrm>
            <a:off x="9921240" y="2103120"/>
            <a:ext cx="1234440" cy="36576"/>
          </a:xfrm>
          <a:prstGeom prst="rect">
            <a:avLst/>
          </a:prstGeom>
          <a:solidFill>
            <a:srgbClr val="CCF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Rounded Rectangle 40"/>
          <p:cNvSpPr/>
          <p:nvPr/>
        </p:nvSpPr>
        <p:spPr>
          <a:xfrm>
            <a:off x="9372600" y="2468880"/>
            <a:ext cx="2331720" cy="594360"/>
          </a:xfrm>
          <a:prstGeom prst="roundRect">
            <a:avLst>
              <a:gd name="adj" fmla="val 5000"/>
            </a:avLst>
          </a:prstGeom>
          <a:solidFill>
            <a:srgbClr val="0D0D0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9372600" y="2578608"/>
            <a:ext cx="2331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0">
                <a:solidFill>
                  <a:srgbClr val="FFFFFF"/>
                </a:solidFill>
                <a:latin typeface="Calibri"/>
              </a:defRPr>
            </a:pPr>
            <a:r>
              <a:t>Dark Theme UI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9372600" y="3291840"/>
            <a:ext cx="2331720" cy="594360"/>
          </a:xfrm>
          <a:prstGeom prst="roundRect">
            <a:avLst>
              <a:gd name="adj" fmla="val 5000"/>
            </a:avLst>
          </a:prstGeom>
          <a:solidFill>
            <a:srgbClr val="0D0D0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9372600" y="3401568"/>
            <a:ext cx="2331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0">
                <a:solidFill>
                  <a:srgbClr val="FFFFFF"/>
                </a:solidFill>
                <a:latin typeface="Calibri"/>
              </a:defRPr>
            </a:pPr>
            <a:r>
              <a:t>Archivo Font Family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9372600" y="4114800"/>
            <a:ext cx="2331720" cy="594360"/>
          </a:xfrm>
          <a:prstGeom prst="roundRect">
            <a:avLst>
              <a:gd name="adj" fmla="val 5000"/>
            </a:avLst>
          </a:prstGeom>
          <a:solidFill>
            <a:srgbClr val="0D0D0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9372600" y="4224528"/>
            <a:ext cx="2331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0">
                <a:solidFill>
                  <a:srgbClr val="FFFFFF"/>
                </a:solidFill>
                <a:latin typeface="Calibri"/>
              </a:defRPr>
            </a:pPr>
            <a:r>
              <a:t>Component Library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9372600" y="4937760"/>
            <a:ext cx="2331720" cy="594360"/>
          </a:xfrm>
          <a:prstGeom prst="roundRect">
            <a:avLst>
              <a:gd name="adj" fmla="val 5000"/>
            </a:avLst>
          </a:prstGeom>
          <a:solidFill>
            <a:srgbClr val="0D0D0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9372600" y="5047488"/>
            <a:ext cx="2331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0">
                <a:solidFill>
                  <a:srgbClr val="FFFFFF"/>
                </a:solidFill>
                <a:latin typeface="Calibri"/>
              </a:defRPr>
            </a:pPr>
            <a:r>
              <a:t>Cross-Platform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54864" cy="6858000"/>
          </a:xfrm>
          <a:prstGeom prst="rect">
            <a:avLst/>
          </a:prstGeom>
          <a:solidFill>
            <a:srgbClr val="CCF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CCFF00"/>
                </a:solidFill>
                <a:latin typeface="Calibri"/>
              </a:defRPr>
            </a:pPr>
            <a:r>
              <a:t>HOW IT WORKS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914400"/>
            <a:ext cx="1828800" cy="36576"/>
          </a:xfrm>
          <a:prstGeom prst="rect">
            <a:avLst/>
          </a:prstGeom>
          <a:solidFill>
            <a:srgbClr val="CCF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1097280" y="1828800"/>
            <a:ext cx="914400" cy="914400"/>
          </a:xfrm>
          <a:prstGeom prst="ellipse">
            <a:avLst/>
          </a:prstGeom>
          <a:solidFill>
            <a:srgbClr val="CCF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3200" b="1">
                <a:solidFill>
                  <a:srgbClr val="000000"/>
                </a:solidFill>
              </a:defRPr>
            </a:pPr>
            <a: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01752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Calibri"/>
              </a:defRPr>
            </a:pPr>
            <a:r>
              <a:t>SEARCH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3474720"/>
            <a:ext cx="21945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9CA3AF"/>
                </a:solidFill>
                <a:latin typeface="Calibri"/>
              </a:defRPr>
            </a:pPr>
            <a:r>
              <a:t>User types a</a:t>
            </a:r>
            <a:br/>
            <a:r>
              <a:t>product name</a:t>
            </a:r>
          </a:p>
        </p:txBody>
      </p:sp>
      <p:sp>
        <p:nvSpPr>
          <p:cNvPr id="8" name="Right Arrow 7"/>
          <p:cNvSpPr/>
          <p:nvPr/>
        </p:nvSpPr>
        <p:spPr>
          <a:xfrm>
            <a:off x="2377440" y="2103120"/>
            <a:ext cx="365760" cy="320040"/>
          </a:xfrm>
          <a:prstGeom prst="rightArrow">
            <a:avLst/>
          </a:prstGeom>
          <a:solidFill>
            <a:srgbClr val="3D4D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3383280" y="1828800"/>
            <a:ext cx="914400" cy="914400"/>
          </a:xfrm>
          <a:prstGeom prst="ellipse">
            <a:avLst/>
          </a:prstGeom>
          <a:solidFill>
            <a:srgbClr val="CCF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3200" b="1">
                <a:solidFill>
                  <a:srgbClr val="000000"/>
                </a:solidFill>
              </a:defRPr>
            </a:pPr>
            <a: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43200" y="301752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Calibri"/>
              </a:defRPr>
            </a:pPr>
            <a:r>
              <a:t>AGGREGATE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0" y="3474720"/>
            <a:ext cx="21945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9CA3AF"/>
                </a:solidFill>
                <a:latin typeface="Calibri"/>
              </a:defRPr>
            </a:pPr>
            <a:r>
              <a:t>System searches</a:t>
            </a:r>
            <a:br/>
            <a:r>
              <a:t>across all stores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4663440" y="2103120"/>
            <a:ext cx="365760" cy="320040"/>
          </a:xfrm>
          <a:prstGeom prst="rightArrow">
            <a:avLst/>
          </a:prstGeom>
          <a:solidFill>
            <a:srgbClr val="3D4D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Oval 12"/>
          <p:cNvSpPr/>
          <p:nvPr/>
        </p:nvSpPr>
        <p:spPr>
          <a:xfrm>
            <a:off x="5669280" y="1828800"/>
            <a:ext cx="914400" cy="914400"/>
          </a:xfrm>
          <a:prstGeom prst="ellipse">
            <a:avLst/>
          </a:prstGeom>
          <a:solidFill>
            <a:srgbClr val="CCF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3200" b="1">
                <a:solidFill>
                  <a:srgbClr val="000000"/>
                </a:solidFill>
              </a:defRPr>
            </a:pPr>
            <a: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0" y="301752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Calibri"/>
              </a:defRPr>
            </a:pPr>
            <a:r>
              <a:t>COMPARE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0" y="3474720"/>
            <a:ext cx="219456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9CA3AF"/>
                </a:solidFill>
                <a:latin typeface="Calibri"/>
              </a:defRPr>
            </a:pPr>
            <a:r>
              <a:rPr dirty="0"/>
              <a:t>Prices displayed</a:t>
            </a:r>
            <a:br>
              <a:rPr dirty="0"/>
            </a:br>
            <a:r>
              <a:rPr lang="en-US" dirty="0"/>
              <a:t>on a single page</a:t>
            </a:r>
            <a:endParaRPr dirty="0"/>
          </a:p>
        </p:txBody>
      </p:sp>
      <p:sp>
        <p:nvSpPr>
          <p:cNvPr id="16" name="Right Arrow 15"/>
          <p:cNvSpPr/>
          <p:nvPr/>
        </p:nvSpPr>
        <p:spPr>
          <a:xfrm>
            <a:off x="6949440" y="2103120"/>
            <a:ext cx="365760" cy="320040"/>
          </a:xfrm>
          <a:prstGeom prst="rightArrow">
            <a:avLst/>
          </a:prstGeom>
          <a:solidFill>
            <a:srgbClr val="3D4D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Oval 16"/>
          <p:cNvSpPr/>
          <p:nvPr/>
        </p:nvSpPr>
        <p:spPr>
          <a:xfrm>
            <a:off x="7955280" y="1828800"/>
            <a:ext cx="914400" cy="914400"/>
          </a:xfrm>
          <a:prstGeom prst="ellipse">
            <a:avLst/>
          </a:prstGeom>
          <a:solidFill>
            <a:srgbClr val="CCF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3200" b="1">
                <a:solidFill>
                  <a:srgbClr val="000000"/>
                </a:solidFill>
              </a:defRPr>
            </a:pPr>
            <a:r>
              <a:t>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0" y="301752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Calibri"/>
              </a:defRPr>
            </a:pPr>
            <a:r>
              <a:t>DECIDE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0" y="3474720"/>
            <a:ext cx="21945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9CA3AF"/>
                </a:solidFill>
                <a:latin typeface="Calibri"/>
              </a:defRPr>
            </a:pPr>
            <a:r>
              <a:t>User picks the</a:t>
            </a:r>
            <a:br/>
            <a:r>
              <a:t>best deal</a:t>
            </a:r>
          </a:p>
        </p:txBody>
      </p:sp>
      <p:sp>
        <p:nvSpPr>
          <p:cNvPr id="20" name="Right Arrow 19"/>
          <p:cNvSpPr/>
          <p:nvPr/>
        </p:nvSpPr>
        <p:spPr>
          <a:xfrm>
            <a:off x="9235440" y="2103120"/>
            <a:ext cx="365760" cy="320040"/>
          </a:xfrm>
          <a:prstGeom prst="rightArrow">
            <a:avLst/>
          </a:prstGeom>
          <a:solidFill>
            <a:srgbClr val="3D4D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Oval 20"/>
          <p:cNvSpPr/>
          <p:nvPr/>
        </p:nvSpPr>
        <p:spPr>
          <a:xfrm>
            <a:off x="10241280" y="1828800"/>
            <a:ext cx="914400" cy="914400"/>
          </a:xfrm>
          <a:prstGeom prst="ellipse">
            <a:avLst/>
          </a:prstGeom>
          <a:solidFill>
            <a:srgbClr val="CCF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3200" b="1">
                <a:solidFill>
                  <a:srgbClr val="000000"/>
                </a:solidFill>
              </a:defRPr>
            </a:pPr>
            <a:r>
              <a:t>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601200" y="301752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Calibri"/>
              </a:defRPr>
            </a:pPr>
            <a:r>
              <a:t>TRACK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601200" y="3474720"/>
            <a:ext cx="21945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9CA3AF"/>
                </a:solidFill>
                <a:latin typeface="Calibri"/>
              </a:defRPr>
            </a:pPr>
            <a:r>
              <a:t>Set alerts &amp;</a:t>
            </a:r>
            <a:br/>
            <a:r>
              <a:t>save to wishlist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1520" y="4572000"/>
            <a:ext cx="106984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9CA3AF"/>
                </a:solidFill>
                <a:latin typeface="Calibri"/>
              </a:defRPr>
            </a:pPr>
            <a:r>
              <a:t>Bhao.pk automatically collects product data from multiple Pakistani e-commerce platforms. When a user searches for a product, the system instantly shows prices from every available store, helping users find the lowest price without visiting each site individually.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54864" cy="6858000"/>
          </a:xfrm>
          <a:prstGeom prst="rect">
            <a:avLst/>
          </a:prstGeom>
          <a:solidFill>
            <a:srgbClr val="CCF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CCFF00"/>
                </a:solidFill>
                <a:latin typeface="Calibri"/>
              </a:defRPr>
            </a:pPr>
            <a:r>
              <a:t>SEARCH &amp; COMPARE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914400"/>
            <a:ext cx="2286000" cy="36576"/>
          </a:xfrm>
          <a:prstGeom prst="rect">
            <a:avLst/>
          </a:prstGeom>
          <a:solidFill>
            <a:srgbClr val="CCF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  <a:latin typeface="Calibri"/>
              </a:defRPr>
            </a:pPr>
            <a:r>
              <a:t>One Search. Every Store.</a:t>
            </a:r>
          </a:p>
        </p:txBody>
      </p:sp>
      <p:sp>
        <p:nvSpPr>
          <p:cNvPr id="6" name="Oval 5"/>
          <p:cNvSpPr/>
          <p:nvPr/>
        </p:nvSpPr>
        <p:spPr>
          <a:xfrm>
            <a:off x="914400" y="2176272"/>
            <a:ext cx="91440" cy="91440"/>
          </a:xfrm>
          <a:prstGeom prst="ellipse">
            <a:avLst/>
          </a:prstGeom>
          <a:solidFill>
            <a:srgbClr val="CCF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188720" y="210312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9CA3AF"/>
                </a:solidFill>
                <a:latin typeface="Calibri"/>
              </a:defRPr>
            </a:pPr>
            <a:r>
              <a:t>Type any product name in the search bar</a:t>
            </a:r>
          </a:p>
        </p:txBody>
      </p:sp>
      <p:sp>
        <p:nvSpPr>
          <p:cNvPr id="8" name="Oval 7"/>
          <p:cNvSpPr/>
          <p:nvPr/>
        </p:nvSpPr>
        <p:spPr>
          <a:xfrm>
            <a:off x="914400" y="2770632"/>
            <a:ext cx="91440" cy="91440"/>
          </a:xfrm>
          <a:prstGeom prst="ellipse">
            <a:avLst/>
          </a:prstGeom>
          <a:solidFill>
            <a:srgbClr val="CCF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188720" y="269748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9CA3AF"/>
                </a:solidFill>
                <a:latin typeface="Calibri"/>
              </a:defRPr>
            </a:pPr>
            <a:r>
              <a:t>See real-time suggestions as you type</a:t>
            </a:r>
          </a:p>
        </p:txBody>
      </p:sp>
      <p:sp>
        <p:nvSpPr>
          <p:cNvPr id="10" name="Oval 9"/>
          <p:cNvSpPr/>
          <p:nvPr/>
        </p:nvSpPr>
        <p:spPr>
          <a:xfrm>
            <a:off x="914400" y="3364992"/>
            <a:ext cx="91440" cy="91440"/>
          </a:xfrm>
          <a:prstGeom prst="ellipse">
            <a:avLst/>
          </a:prstGeom>
          <a:solidFill>
            <a:srgbClr val="CCF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188720" y="3291840"/>
            <a:ext cx="5029200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9CA3AF"/>
                </a:solidFill>
                <a:latin typeface="Calibri"/>
              </a:defRPr>
            </a:pPr>
            <a:r>
              <a:rPr dirty="0"/>
              <a:t>Results from </a:t>
            </a:r>
            <a:r>
              <a:rPr dirty="0" err="1"/>
              <a:t>Daraz</a:t>
            </a:r>
            <a:r>
              <a:rPr dirty="0"/>
              <a:t>, </a:t>
            </a:r>
            <a:r>
              <a:rPr lang="en-US" dirty="0" err="1"/>
              <a:t>Telemart</a:t>
            </a:r>
            <a:r>
              <a:rPr dirty="0"/>
              <a:t>, </a:t>
            </a:r>
            <a:r>
              <a:rPr lang="en-US" dirty="0" err="1"/>
              <a:t>Shopive</a:t>
            </a:r>
            <a:r>
              <a:rPr dirty="0"/>
              <a:t> appear together</a:t>
            </a:r>
          </a:p>
        </p:txBody>
      </p:sp>
      <p:sp>
        <p:nvSpPr>
          <p:cNvPr id="12" name="Oval 11"/>
          <p:cNvSpPr/>
          <p:nvPr/>
        </p:nvSpPr>
        <p:spPr>
          <a:xfrm>
            <a:off x="914400" y="3959352"/>
            <a:ext cx="91440" cy="91440"/>
          </a:xfrm>
          <a:prstGeom prst="ellipse">
            <a:avLst/>
          </a:prstGeom>
          <a:solidFill>
            <a:srgbClr val="CCF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188720" y="388620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9CA3AF"/>
                </a:solidFill>
                <a:latin typeface="Calibri"/>
              </a:defRPr>
            </a:pPr>
            <a:r>
              <a:t>Each result shows the product name, price, and which store it’s from</a:t>
            </a:r>
          </a:p>
        </p:txBody>
      </p:sp>
      <p:sp>
        <p:nvSpPr>
          <p:cNvPr id="14" name="Oval 13"/>
          <p:cNvSpPr/>
          <p:nvPr/>
        </p:nvSpPr>
        <p:spPr>
          <a:xfrm>
            <a:off x="914400" y="4553712"/>
            <a:ext cx="91440" cy="91440"/>
          </a:xfrm>
          <a:prstGeom prst="ellipse">
            <a:avLst/>
          </a:prstGeom>
          <a:solidFill>
            <a:srgbClr val="CCF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1188720" y="4480560"/>
            <a:ext cx="5029200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9CA3AF"/>
                </a:solidFill>
                <a:latin typeface="Calibri"/>
              </a:defRPr>
            </a:pPr>
            <a:r>
              <a:rPr dirty="0"/>
              <a:t>Tap any product to see the full </a:t>
            </a:r>
            <a:r>
              <a:rPr lang="en-US" dirty="0"/>
              <a:t>product</a:t>
            </a:r>
            <a:r>
              <a:rPr dirty="0"/>
              <a:t> page</a:t>
            </a:r>
            <a:r>
              <a:rPr lang="en-US" dirty="0"/>
              <a:t> with price history</a:t>
            </a:r>
            <a:endParaRPr dirty="0"/>
          </a:p>
        </p:txBody>
      </p:sp>
      <p:pic>
        <p:nvPicPr>
          <p:cNvPr id="16" name="Picture 15" descr="4.1-Search scree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0" y="731520"/>
            <a:ext cx="2286000" cy="5029200"/>
          </a:xfrm>
          <a:prstGeom prst="rect">
            <a:avLst/>
          </a:prstGeom>
        </p:spPr>
      </p:pic>
      <p:pic>
        <p:nvPicPr>
          <p:cNvPr id="17" name="Picture 16" descr="4.2-Search results  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26880" y="1097280"/>
            <a:ext cx="2286000" cy="50292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54864" cy="6858000"/>
          </a:xfrm>
          <a:prstGeom prst="rect">
            <a:avLst/>
          </a:prstGeom>
          <a:solidFill>
            <a:srgbClr val="CCF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CCFF00"/>
                </a:solidFill>
                <a:latin typeface="Calibri"/>
              </a:defRPr>
            </a:pPr>
            <a:r>
              <a:t>FILTER &amp; SORT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914400"/>
            <a:ext cx="1828800" cy="36576"/>
          </a:xfrm>
          <a:prstGeom prst="rect">
            <a:avLst/>
          </a:prstGeom>
          <a:solidFill>
            <a:srgbClr val="CCF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  <a:latin typeface="Calibri"/>
              </a:defRPr>
            </a:pPr>
            <a:r>
              <a:t>Find Exactly What You Need</a:t>
            </a:r>
          </a:p>
        </p:txBody>
      </p:sp>
      <p:sp>
        <p:nvSpPr>
          <p:cNvPr id="6" name="Oval 5"/>
          <p:cNvSpPr/>
          <p:nvPr/>
        </p:nvSpPr>
        <p:spPr>
          <a:xfrm>
            <a:off x="914400" y="2176272"/>
            <a:ext cx="91440" cy="91440"/>
          </a:xfrm>
          <a:prstGeom prst="ellipse">
            <a:avLst/>
          </a:prstGeom>
          <a:solidFill>
            <a:srgbClr val="CCF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188720" y="210312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9CA3AF"/>
                </a:solidFill>
                <a:latin typeface="Calibri"/>
              </a:defRPr>
            </a:pPr>
            <a:r>
              <a:t>Sort results by price: lowest first or highest first</a:t>
            </a:r>
          </a:p>
        </p:txBody>
      </p:sp>
      <p:sp>
        <p:nvSpPr>
          <p:cNvPr id="8" name="Oval 7"/>
          <p:cNvSpPr/>
          <p:nvPr/>
        </p:nvSpPr>
        <p:spPr>
          <a:xfrm>
            <a:off x="914400" y="2770632"/>
            <a:ext cx="91440" cy="91440"/>
          </a:xfrm>
          <a:prstGeom prst="ellipse">
            <a:avLst/>
          </a:prstGeom>
          <a:solidFill>
            <a:srgbClr val="CCF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188720" y="269748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9CA3AF"/>
                </a:solidFill>
                <a:latin typeface="Calibri"/>
              </a:defRPr>
            </a:pPr>
            <a:r>
              <a:t>Filter by specific store (e.g., show only Daraz products)</a:t>
            </a:r>
          </a:p>
        </p:txBody>
      </p:sp>
      <p:sp>
        <p:nvSpPr>
          <p:cNvPr id="10" name="Oval 9"/>
          <p:cNvSpPr/>
          <p:nvPr/>
        </p:nvSpPr>
        <p:spPr>
          <a:xfrm>
            <a:off x="914400" y="3364992"/>
            <a:ext cx="91440" cy="91440"/>
          </a:xfrm>
          <a:prstGeom prst="ellipse">
            <a:avLst/>
          </a:prstGeom>
          <a:solidFill>
            <a:srgbClr val="CCF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188720" y="329184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9CA3AF"/>
                </a:solidFill>
                <a:latin typeface="Calibri"/>
              </a:defRPr>
            </a:pPr>
            <a:r>
              <a:t>Set a minimum and maximum price range</a:t>
            </a:r>
          </a:p>
        </p:txBody>
      </p:sp>
      <p:sp>
        <p:nvSpPr>
          <p:cNvPr id="12" name="Oval 11"/>
          <p:cNvSpPr/>
          <p:nvPr/>
        </p:nvSpPr>
        <p:spPr>
          <a:xfrm>
            <a:off x="914400" y="3959352"/>
            <a:ext cx="91440" cy="91440"/>
          </a:xfrm>
          <a:prstGeom prst="ellipse">
            <a:avLst/>
          </a:prstGeom>
          <a:solidFill>
            <a:srgbClr val="CCF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188720" y="388620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9CA3AF"/>
                </a:solidFill>
                <a:latin typeface="Calibri"/>
              </a:defRPr>
            </a:pPr>
            <a:r>
              <a:t>Combine filters to narrow down the perfect product</a:t>
            </a:r>
          </a:p>
        </p:txBody>
      </p:sp>
      <p:sp>
        <p:nvSpPr>
          <p:cNvPr id="14" name="Oval 13"/>
          <p:cNvSpPr/>
          <p:nvPr/>
        </p:nvSpPr>
        <p:spPr>
          <a:xfrm>
            <a:off x="914400" y="4553712"/>
            <a:ext cx="91440" cy="91440"/>
          </a:xfrm>
          <a:prstGeom prst="ellipse">
            <a:avLst/>
          </a:prstGeom>
          <a:solidFill>
            <a:srgbClr val="CCF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1188720" y="448056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9CA3AF"/>
                </a:solidFill>
                <a:latin typeface="Calibri"/>
              </a:defRPr>
            </a:pPr>
            <a:r>
              <a:t>Results update instantly when filters change</a:t>
            </a:r>
          </a:p>
        </p:txBody>
      </p:sp>
      <p:pic>
        <p:nvPicPr>
          <p:cNvPr id="16" name="Picture 15" descr="4.3-Sort mod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0" y="731520"/>
            <a:ext cx="2286000" cy="5029200"/>
          </a:xfrm>
          <a:prstGeom prst="rect">
            <a:avLst/>
          </a:prstGeom>
        </p:spPr>
      </p:pic>
      <p:pic>
        <p:nvPicPr>
          <p:cNvPr id="17" name="Picture 16" descr="4.4-Filter modal 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26880" y="1097280"/>
            <a:ext cx="2286000" cy="50292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54864" cy="6858000"/>
          </a:xfrm>
          <a:prstGeom prst="rect">
            <a:avLst/>
          </a:prstGeom>
          <a:solidFill>
            <a:srgbClr val="CCF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CCFF00"/>
                </a:solidFill>
                <a:latin typeface="Calibri"/>
              </a:defRPr>
            </a:pPr>
            <a:r>
              <a:t>PRICE ALERTS &amp; WISHLIST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914400"/>
            <a:ext cx="2743200" cy="36576"/>
          </a:xfrm>
          <a:prstGeom prst="rect">
            <a:avLst/>
          </a:prstGeom>
          <a:solidFill>
            <a:srgbClr val="CCF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  <a:latin typeface="Calibri"/>
              </a:defRPr>
            </a:pPr>
            <a:r>
              <a:t>Never Miss a Deal</a:t>
            </a:r>
          </a:p>
        </p:txBody>
      </p:sp>
      <p:sp>
        <p:nvSpPr>
          <p:cNvPr id="6" name="Oval 5"/>
          <p:cNvSpPr/>
          <p:nvPr/>
        </p:nvSpPr>
        <p:spPr>
          <a:xfrm>
            <a:off x="914400" y="2176272"/>
            <a:ext cx="91440" cy="91440"/>
          </a:xfrm>
          <a:prstGeom prst="ellipse">
            <a:avLst/>
          </a:prstGeom>
          <a:solidFill>
            <a:srgbClr val="CCF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188720" y="210312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9CA3AF"/>
                </a:solidFill>
                <a:latin typeface="Calibri"/>
              </a:defRPr>
            </a:pPr>
            <a:r>
              <a:t>Set a target price for any product you’re watching</a:t>
            </a:r>
          </a:p>
        </p:txBody>
      </p:sp>
      <p:sp>
        <p:nvSpPr>
          <p:cNvPr id="8" name="Oval 7"/>
          <p:cNvSpPr/>
          <p:nvPr/>
        </p:nvSpPr>
        <p:spPr>
          <a:xfrm>
            <a:off x="914400" y="2770632"/>
            <a:ext cx="91440" cy="91440"/>
          </a:xfrm>
          <a:prstGeom prst="ellipse">
            <a:avLst/>
          </a:prstGeom>
          <a:solidFill>
            <a:srgbClr val="CCF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188720" y="269748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9CA3AF"/>
                </a:solidFill>
                <a:latin typeface="Calibri"/>
              </a:defRPr>
            </a:pPr>
            <a:r>
              <a:t>The system continuously monitors prices in the background</a:t>
            </a:r>
          </a:p>
        </p:txBody>
      </p:sp>
      <p:sp>
        <p:nvSpPr>
          <p:cNvPr id="10" name="Oval 9"/>
          <p:cNvSpPr/>
          <p:nvPr/>
        </p:nvSpPr>
        <p:spPr>
          <a:xfrm>
            <a:off x="914400" y="3364992"/>
            <a:ext cx="91440" cy="91440"/>
          </a:xfrm>
          <a:prstGeom prst="ellipse">
            <a:avLst/>
          </a:prstGeom>
          <a:solidFill>
            <a:srgbClr val="CCF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188720" y="329184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9CA3AF"/>
                </a:solidFill>
                <a:latin typeface="Calibri"/>
              </a:defRPr>
            </a:pPr>
            <a:r>
              <a:t>Get notified immediately when the price drops to your target</a:t>
            </a:r>
          </a:p>
        </p:txBody>
      </p:sp>
      <p:sp>
        <p:nvSpPr>
          <p:cNvPr id="12" name="Oval 11"/>
          <p:cNvSpPr/>
          <p:nvPr/>
        </p:nvSpPr>
        <p:spPr>
          <a:xfrm>
            <a:off x="914400" y="3959352"/>
            <a:ext cx="91440" cy="91440"/>
          </a:xfrm>
          <a:prstGeom prst="ellipse">
            <a:avLst/>
          </a:prstGeom>
          <a:solidFill>
            <a:srgbClr val="CCF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188720" y="388620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9CA3AF"/>
                </a:solidFill>
                <a:latin typeface="Calibri"/>
              </a:defRPr>
            </a:pPr>
            <a:r>
              <a:t>Save products to your wishlist with one tap</a:t>
            </a:r>
          </a:p>
        </p:txBody>
      </p:sp>
      <p:sp>
        <p:nvSpPr>
          <p:cNvPr id="14" name="Oval 13"/>
          <p:cNvSpPr/>
          <p:nvPr/>
        </p:nvSpPr>
        <p:spPr>
          <a:xfrm>
            <a:off x="914400" y="4553712"/>
            <a:ext cx="91440" cy="91440"/>
          </a:xfrm>
          <a:prstGeom prst="ellipse">
            <a:avLst/>
          </a:prstGeom>
          <a:solidFill>
            <a:srgbClr val="CCF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1188720" y="448056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9CA3AF"/>
                </a:solidFill>
                <a:latin typeface="Calibri"/>
              </a:defRPr>
            </a:pPr>
            <a:r>
              <a:t>Access your saved items anytime from your profile</a:t>
            </a:r>
          </a:p>
        </p:txBody>
      </p:sp>
      <p:pic>
        <p:nvPicPr>
          <p:cNvPr id="16" name="Picture 15" descr="4.12-Set price alert 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0" y="731520"/>
            <a:ext cx="2286000" cy="5029200"/>
          </a:xfrm>
          <a:prstGeom prst="rect">
            <a:avLst/>
          </a:prstGeom>
        </p:spPr>
      </p:pic>
      <p:pic>
        <p:nvPicPr>
          <p:cNvPr id="17" name="Picture 16" descr="4.11-Wishlist scree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26880" y="1097280"/>
            <a:ext cx="2286000" cy="50292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54864" cy="6858000"/>
          </a:xfrm>
          <a:prstGeom prst="rect">
            <a:avLst/>
          </a:prstGeom>
          <a:solidFill>
            <a:srgbClr val="CCF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CCFF00"/>
                </a:solidFill>
                <a:latin typeface="Calibri"/>
              </a:defRPr>
            </a:pPr>
            <a:r>
              <a:t>USER ACCOUNTS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914400"/>
            <a:ext cx="1828800" cy="36576"/>
          </a:xfrm>
          <a:prstGeom prst="rect">
            <a:avLst/>
          </a:prstGeom>
          <a:solidFill>
            <a:srgbClr val="CCF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  <a:latin typeface="Calibri"/>
              </a:defRPr>
            </a:pPr>
            <a:r>
              <a:t>Secure &amp; Simple</a:t>
            </a:r>
          </a:p>
        </p:txBody>
      </p:sp>
      <p:sp>
        <p:nvSpPr>
          <p:cNvPr id="6" name="Oval 5"/>
          <p:cNvSpPr/>
          <p:nvPr/>
        </p:nvSpPr>
        <p:spPr>
          <a:xfrm>
            <a:off x="914400" y="2176272"/>
            <a:ext cx="91440" cy="91440"/>
          </a:xfrm>
          <a:prstGeom prst="ellipse">
            <a:avLst/>
          </a:prstGeom>
          <a:solidFill>
            <a:srgbClr val="CCF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188720" y="210312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9CA3AF"/>
                </a:solidFill>
                <a:latin typeface="Calibri"/>
              </a:defRPr>
            </a:pPr>
            <a:r>
              <a:t>Create an account with name, email, and password</a:t>
            </a:r>
          </a:p>
        </p:txBody>
      </p:sp>
      <p:sp>
        <p:nvSpPr>
          <p:cNvPr id="8" name="Oval 7"/>
          <p:cNvSpPr/>
          <p:nvPr/>
        </p:nvSpPr>
        <p:spPr>
          <a:xfrm>
            <a:off x="914400" y="2724912"/>
            <a:ext cx="91440" cy="91440"/>
          </a:xfrm>
          <a:prstGeom prst="ellipse">
            <a:avLst/>
          </a:prstGeom>
          <a:solidFill>
            <a:srgbClr val="CCF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188720" y="265176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9CA3AF"/>
                </a:solidFill>
                <a:latin typeface="Calibri"/>
              </a:defRPr>
            </a:pPr>
            <a:r>
              <a:t>Smart form validation catches errors before submission</a:t>
            </a:r>
          </a:p>
        </p:txBody>
      </p:sp>
      <p:sp>
        <p:nvSpPr>
          <p:cNvPr id="10" name="Oval 9"/>
          <p:cNvSpPr/>
          <p:nvPr/>
        </p:nvSpPr>
        <p:spPr>
          <a:xfrm>
            <a:off x="914400" y="3273552"/>
            <a:ext cx="91440" cy="91440"/>
          </a:xfrm>
          <a:prstGeom prst="ellipse">
            <a:avLst/>
          </a:prstGeom>
          <a:solidFill>
            <a:srgbClr val="CCF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188720" y="320040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9CA3AF"/>
                </a:solidFill>
                <a:latin typeface="Calibri"/>
              </a:defRPr>
            </a:pPr>
            <a:r>
              <a:t>Secure login with password visibility toggle</a:t>
            </a:r>
          </a:p>
        </p:txBody>
      </p:sp>
      <p:sp>
        <p:nvSpPr>
          <p:cNvPr id="12" name="Oval 11"/>
          <p:cNvSpPr/>
          <p:nvPr/>
        </p:nvSpPr>
        <p:spPr>
          <a:xfrm>
            <a:off x="914400" y="3822192"/>
            <a:ext cx="91440" cy="91440"/>
          </a:xfrm>
          <a:prstGeom prst="ellipse">
            <a:avLst/>
          </a:prstGeom>
          <a:solidFill>
            <a:srgbClr val="CCF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188720" y="374904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9CA3AF"/>
                </a:solidFill>
                <a:latin typeface="Calibri"/>
              </a:defRPr>
            </a:pPr>
            <a:r>
              <a:t>Password recovery via email for forgotten passwords</a:t>
            </a:r>
          </a:p>
        </p:txBody>
      </p:sp>
      <p:sp>
        <p:nvSpPr>
          <p:cNvPr id="14" name="Oval 13"/>
          <p:cNvSpPr/>
          <p:nvPr/>
        </p:nvSpPr>
        <p:spPr>
          <a:xfrm>
            <a:off x="914400" y="4370832"/>
            <a:ext cx="91440" cy="91440"/>
          </a:xfrm>
          <a:prstGeom prst="ellipse">
            <a:avLst/>
          </a:prstGeom>
          <a:solidFill>
            <a:srgbClr val="CCF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1188720" y="429768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9CA3AF"/>
                </a:solidFill>
                <a:latin typeface="Calibri"/>
              </a:defRPr>
            </a:pPr>
            <a:r>
              <a:t>Guest mode available — browse without signing up</a:t>
            </a:r>
          </a:p>
        </p:txBody>
      </p:sp>
      <p:sp>
        <p:nvSpPr>
          <p:cNvPr id="16" name="Oval 15"/>
          <p:cNvSpPr/>
          <p:nvPr/>
        </p:nvSpPr>
        <p:spPr>
          <a:xfrm>
            <a:off x="914400" y="4919472"/>
            <a:ext cx="91440" cy="91440"/>
          </a:xfrm>
          <a:prstGeom prst="ellipse">
            <a:avLst/>
          </a:prstGeom>
          <a:solidFill>
            <a:srgbClr val="CCF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1188720" y="484632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9CA3AF"/>
                </a:solidFill>
                <a:latin typeface="Calibri"/>
              </a:defRPr>
            </a:pPr>
            <a:r>
              <a:t>One-tap logout with confirmation for safety</a:t>
            </a:r>
          </a:p>
        </p:txBody>
      </p:sp>
      <p:pic>
        <p:nvPicPr>
          <p:cNvPr id="18" name="Picture 17" descr="4.5-Signup screen  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55920" y="956730"/>
            <a:ext cx="2133600" cy="4741333"/>
          </a:xfrm>
          <a:prstGeom prst="rect">
            <a:avLst/>
          </a:prstGeom>
        </p:spPr>
      </p:pic>
      <p:pic>
        <p:nvPicPr>
          <p:cNvPr id="19" name="Picture 18" descr="4.7-Login scree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89520" y="914399"/>
            <a:ext cx="2133600" cy="4741333"/>
          </a:xfrm>
          <a:prstGeom prst="rect">
            <a:avLst/>
          </a:prstGeom>
        </p:spPr>
      </p:pic>
      <p:pic>
        <p:nvPicPr>
          <p:cNvPr id="20" name="Picture 19" descr="4.8-Profile scree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723120" y="873508"/>
            <a:ext cx="2133600" cy="4741333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54864" cy="6858000"/>
          </a:xfrm>
          <a:prstGeom prst="rect">
            <a:avLst/>
          </a:prstGeom>
          <a:solidFill>
            <a:srgbClr val="CCF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CCFF00"/>
                </a:solidFill>
                <a:latin typeface="Calibri"/>
              </a:defRPr>
            </a:pPr>
            <a:r>
              <a:t>TESTING RESULTS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914400"/>
            <a:ext cx="1828800" cy="36576"/>
          </a:xfrm>
          <a:prstGeom prst="rect">
            <a:avLst/>
          </a:prstGeom>
          <a:solidFill>
            <a:srgbClr val="CCF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FFFFFF"/>
                </a:solidFill>
                <a:latin typeface="Calibri"/>
              </a:defRPr>
            </a:pPr>
            <a:r>
              <a:t>Black Box Testing — 8 functional requirements tested, all passed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103120"/>
            <a:ext cx="2697480" cy="1645920"/>
          </a:xfrm>
          <a:prstGeom prst="roundRect">
            <a:avLst>
              <a:gd name="adj" fmla="val 5000"/>
            </a:avLst>
          </a:prstGeom>
          <a:solidFill>
            <a:srgbClr val="1A1A1A"/>
          </a:solidFill>
          <a:ln w="12700">
            <a:solidFill>
              <a:srgbClr val="3D4D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48640" y="2286000"/>
            <a:ext cx="2697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9CA3AF"/>
                </a:solidFill>
                <a:latin typeface="Calibri"/>
              </a:defRPr>
            </a:pPr>
            <a:r>
              <a:t>TC-01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560320"/>
            <a:ext cx="2697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700" b="1">
                <a:solidFill>
                  <a:srgbClr val="FFFFFF"/>
                </a:solidFill>
                <a:latin typeface="Calibri"/>
              </a:defRPr>
            </a:pPr>
            <a:r>
              <a:t>Product Search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188720" y="3108960"/>
            <a:ext cx="1417320" cy="411480"/>
          </a:xfrm>
          <a:prstGeom prst="roundRect">
            <a:avLst>
              <a:gd name="adj" fmla="val 5000"/>
            </a:avLst>
          </a:prstGeom>
          <a:solidFill>
            <a:srgbClr val="CCF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188720" y="3127248"/>
            <a:ext cx="1417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000000"/>
                </a:solidFill>
                <a:latin typeface="Calibri"/>
              </a:defRPr>
            </a:pPr>
            <a:r>
              <a:t>PASSED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429000" y="2103120"/>
            <a:ext cx="2697480" cy="1645920"/>
          </a:xfrm>
          <a:prstGeom prst="roundRect">
            <a:avLst>
              <a:gd name="adj" fmla="val 5000"/>
            </a:avLst>
          </a:prstGeom>
          <a:solidFill>
            <a:srgbClr val="1A1A1A"/>
          </a:solidFill>
          <a:ln w="12700">
            <a:solidFill>
              <a:srgbClr val="3D4D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3429000" y="2286000"/>
            <a:ext cx="2697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9CA3AF"/>
                </a:solidFill>
                <a:latin typeface="Calibri"/>
              </a:defRPr>
            </a:pPr>
            <a:r>
              <a:t>TC-02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429000" y="2560320"/>
            <a:ext cx="2697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700" b="1">
                <a:solidFill>
                  <a:srgbClr val="FFFFFF"/>
                </a:solidFill>
                <a:latin typeface="Calibri"/>
              </a:defRPr>
            </a:pPr>
            <a:r>
              <a:t>Sort by Price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069080" y="3108960"/>
            <a:ext cx="1417320" cy="411480"/>
          </a:xfrm>
          <a:prstGeom prst="roundRect">
            <a:avLst>
              <a:gd name="adj" fmla="val 5000"/>
            </a:avLst>
          </a:prstGeom>
          <a:solidFill>
            <a:srgbClr val="CCF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069080" y="3127248"/>
            <a:ext cx="1417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000000"/>
                </a:solidFill>
                <a:latin typeface="Calibri"/>
              </a:defRPr>
            </a:pPr>
            <a:r>
              <a:t>PASSED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309360" y="2103120"/>
            <a:ext cx="2697480" cy="1645920"/>
          </a:xfrm>
          <a:prstGeom prst="roundRect">
            <a:avLst>
              <a:gd name="adj" fmla="val 5000"/>
            </a:avLst>
          </a:prstGeom>
          <a:solidFill>
            <a:srgbClr val="1A1A1A"/>
          </a:solidFill>
          <a:ln w="12700">
            <a:solidFill>
              <a:srgbClr val="3D4D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309360" y="2286000"/>
            <a:ext cx="2697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9CA3AF"/>
                </a:solidFill>
                <a:latin typeface="Calibri"/>
              </a:defRPr>
            </a:pPr>
            <a:r>
              <a:t>TC-03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09360" y="2560320"/>
            <a:ext cx="2697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700" b="1">
                <a:solidFill>
                  <a:srgbClr val="FFFFFF"/>
                </a:solidFill>
                <a:latin typeface="Calibri"/>
              </a:defRPr>
            </a:pPr>
            <a:r>
              <a:t>Filter by Store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949440" y="3108960"/>
            <a:ext cx="1417320" cy="411480"/>
          </a:xfrm>
          <a:prstGeom prst="roundRect">
            <a:avLst>
              <a:gd name="adj" fmla="val 5000"/>
            </a:avLst>
          </a:prstGeom>
          <a:solidFill>
            <a:srgbClr val="CCF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949440" y="3127248"/>
            <a:ext cx="1417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000000"/>
                </a:solidFill>
                <a:latin typeface="Calibri"/>
              </a:defRPr>
            </a:pPr>
            <a:r>
              <a:t>PASSED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189720" y="2103120"/>
            <a:ext cx="2697480" cy="1645920"/>
          </a:xfrm>
          <a:prstGeom prst="roundRect">
            <a:avLst>
              <a:gd name="adj" fmla="val 5000"/>
            </a:avLst>
          </a:prstGeom>
          <a:solidFill>
            <a:srgbClr val="1A1A1A"/>
          </a:solidFill>
          <a:ln w="12700">
            <a:solidFill>
              <a:srgbClr val="3D4D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9189720" y="2286000"/>
            <a:ext cx="2697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9CA3AF"/>
                </a:solidFill>
                <a:latin typeface="Calibri"/>
              </a:defRPr>
            </a:pPr>
            <a:r>
              <a:t>TC-04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89720" y="2560320"/>
            <a:ext cx="2697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700" b="1">
                <a:solidFill>
                  <a:srgbClr val="FFFFFF"/>
                </a:solidFill>
                <a:latin typeface="Calibri"/>
              </a:defRPr>
            </a:pPr>
            <a:r>
              <a:t>User Sign Up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829800" y="3108960"/>
            <a:ext cx="1417320" cy="411480"/>
          </a:xfrm>
          <a:prstGeom prst="roundRect">
            <a:avLst>
              <a:gd name="adj" fmla="val 5000"/>
            </a:avLst>
          </a:prstGeom>
          <a:solidFill>
            <a:srgbClr val="CCF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9829800" y="3127248"/>
            <a:ext cx="1417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000000"/>
                </a:solidFill>
                <a:latin typeface="Calibri"/>
              </a:defRPr>
            </a:pPr>
            <a:r>
              <a:t>PASSED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48640" y="4114800"/>
            <a:ext cx="2697480" cy="1645920"/>
          </a:xfrm>
          <a:prstGeom prst="roundRect">
            <a:avLst>
              <a:gd name="adj" fmla="val 5000"/>
            </a:avLst>
          </a:prstGeom>
          <a:solidFill>
            <a:srgbClr val="1A1A1A"/>
          </a:solidFill>
          <a:ln w="12700">
            <a:solidFill>
              <a:srgbClr val="3D4D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548640" y="4297680"/>
            <a:ext cx="2697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9CA3AF"/>
                </a:solidFill>
                <a:latin typeface="Calibri"/>
              </a:defRPr>
            </a:pPr>
            <a:r>
              <a:t>TC-05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48640" y="4572000"/>
            <a:ext cx="2697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700" b="1">
                <a:solidFill>
                  <a:srgbClr val="FFFFFF"/>
                </a:solidFill>
                <a:latin typeface="Calibri"/>
              </a:defRPr>
            </a:pPr>
            <a:r>
              <a:t>User Login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1188720" y="5120640"/>
            <a:ext cx="1417320" cy="411480"/>
          </a:xfrm>
          <a:prstGeom prst="roundRect">
            <a:avLst>
              <a:gd name="adj" fmla="val 5000"/>
            </a:avLst>
          </a:prstGeom>
          <a:solidFill>
            <a:srgbClr val="CCF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1188720" y="5138928"/>
            <a:ext cx="1417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000000"/>
                </a:solidFill>
                <a:latin typeface="Calibri"/>
              </a:defRPr>
            </a:pPr>
            <a:r>
              <a:t>PASSED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3429000" y="4114800"/>
            <a:ext cx="2697480" cy="1645920"/>
          </a:xfrm>
          <a:prstGeom prst="roundRect">
            <a:avLst>
              <a:gd name="adj" fmla="val 5000"/>
            </a:avLst>
          </a:prstGeom>
          <a:solidFill>
            <a:srgbClr val="1A1A1A"/>
          </a:solidFill>
          <a:ln w="12700">
            <a:solidFill>
              <a:srgbClr val="3D4D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3429000" y="4297680"/>
            <a:ext cx="2697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9CA3AF"/>
                </a:solidFill>
                <a:latin typeface="Calibri"/>
              </a:defRPr>
            </a:pPr>
            <a:r>
              <a:t>TC-06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429000" y="4572000"/>
            <a:ext cx="2697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700" b="1">
                <a:solidFill>
                  <a:srgbClr val="FFFFFF"/>
                </a:solidFill>
                <a:latin typeface="Calibri"/>
              </a:defRPr>
            </a:pPr>
            <a:r>
              <a:t>User Logout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4069080" y="5120640"/>
            <a:ext cx="1417320" cy="411480"/>
          </a:xfrm>
          <a:prstGeom prst="roundRect">
            <a:avLst>
              <a:gd name="adj" fmla="val 5000"/>
            </a:avLst>
          </a:prstGeom>
          <a:solidFill>
            <a:srgbClr val="CCF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4069080" y="5138928"/>
            <a:ext cx="1417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000000"/>
                </a:solidFill>
                <a:latin typeface="Calibri"/>
              </a:defRPr>
            </a:pPr>
            <a:r>
              <a:t>PASSED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309360" y="4114800"/>
            <a:ext cx="2697480" cy="1645920"/>
          </a:xfrm>
          <a:prstGeom prst="roundRect">
            <a:avLst>
              <a:gd name="adj" fmla="val 5000"/>
            </a:avLst>
          </a:prstGeom>
          <a:solidFill>
            <a:srgbClr val="1A1A1A"/>
          </a:solidFill>
          <a:ln w="12700">
            <a:solidFill>
              <a:srgbClr val="3D4D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6309360" y="4297680"/>
            <a:ext cx="2697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9CA3AF"/>
                </a:solidFill>
                <a:latin typeface="Calibri"/>
              </a:defRPr>
            </a:pPr>
            <a:r>
              <a:t>TC-07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309360" y="4572000"/>
            <a:ext cx="2697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700" b="1">
                <a:solidFill>
                  <a:srgbClr val="FFFFFF"/>
                </a:solidFill>
                <a:latin typeface="Calibri"/>
              </a:defRPr>
            </a:pPr>
            <a:r>
              <a:t>Add to Wishlist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6949440" y="5120640"/>
            <a:ext cx="1417320" cy="411480"/>
          </a:xfrm>
          <a:prstGeom prst="roundRect">
            <a:avLst>
              <a:gd name="adj" fmla="val 5000"/>
            </a:avLst>
          </a:prstGeom>
          <a:solidFill>
            <a:srgbClr val="CCF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6949440" y="5138928"/>
            <a:ext cx="1417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000000"/>
                </a:solidFill>
                <a:latin typeface="Calibri"/>
              </a:defRPr>
            </a:pPr>
            <a:r>
              <a:t>PASSED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9189720" y="4114800"/>
            <a:ext cx="2697480" cy="1645920"/>
          </a:xfrm>
          <a:prstGeom prst="roundRect">
            <a:avLst>
              <a:gd name="adj" fmla="val 5000"/>
            </a:avLst>
          </a:prstGeom>
          <a:solidFill>
            <a:srgbClr val="1A1A1A"/>
          </a:solidFill>
          <a:ln w="12700">
            <a:solidFill>
              <a:srgbClr val="3D4D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9189720" y="4297680"/>
            <a:ext cx="2697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9CA3AF"/>
                </a:solidFill>
                <a:latin typeface="Calibri"/>
              </a:defRPr>
            </a:pPr>
            <a:r>
              <a:t>TC-08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189720" y="4572000"/>
            <a:ext cx="2697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700" b="1">
                <a:solidFill>
                  <a:srgbClr val="FFFFFF"/>
                </a:solidFill>
                <a:latin typeface="Calibri"/>
              </a:defRPr>
            </a:pPr>
            <a:r>
              <a:t>Set Price Alert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9829800" y="5120640"/>
            <a:ext cx="1417320" cy="411480"/>
          </a:xfrm>
          <a:prstGeom prst="roundRect">
            <a:avLst>
              <a:gd name="adj" fmla="val 5000"/>
            </a:avLst>
          </a:prstGeom>
          <a:solidFill>
            <a:srgbClr val="CCF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9829800" y="5138928"/>
            <a:ext cx="1417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000000"/>
                </a:solidFill>
                <a:latin typeface="Calibri"/>
              </a:defRPr>
            </a:pPr>
            <a:r>
              <a:t>PASSED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548640" y="6126480"/>
            <a:ext cx="11064240" cy="548640"/>
          </a:xfrm>
          <a:prstGeom prst="roundRect">
            <a:avLst>
              <a:gd name="adj" fmla="val 5000"/>
            </a:avLst>
          </a:prstGeom>
          <a:solidFill>
            <a:srgbClr val="CCF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548640" y="6144768"/>
            <a:ext cx="11064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000000"/>
                </a:solidFill>
                <a:latin typeface="Calibri"/>
              </a:defRPr>
            </a:pPr>
            <a:r>
              <a:t>8 / 8  TEST CASES PASSED   —   100% SUCCESS RATE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54864" cy="6858000"/>
          </a:xfrm>
          <a:prstGeom prst="rect">
            <a:avLst/>
          </a:prstGeom>
          <a:solidFill>
            <a:srgbClr val="CCF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CCFF00"/>
                </a:solidFill>
                <a:latin typeface="Calibri"/>
              </a:defRPr>
            </a:pPr>
            <a:r>
              <a:t>FUTURE ENHANCEMENTS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914400"/>
            <a:ext cx="2743200" cy="36576"/>
          </a:xfrm>
          <a:prstGeom prst="rect">
            <a:avLst/>
          </a:prstGeom>
          <a:solidFill>
            <a:srgbClr val="CCF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548640" y="1371600"/>
            <a:ext cx="5440680" cy="1371600"/>
          </a:xfrm>
          <a:prstGeom prst="roundRect">
            <a:avLst>
              <a:gd name="adj" fmla="val 5000"/>
            </a:avLst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22960" y="150876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CCFF00"/>
                </a:solidFill>
                <a:latin typeface="Calibri"/>
              </a:defRPr>
            </a:pPr>
            <a: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80160" y="1508760"/>
            <a:ext cx="4389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FFFFFF"/>
                </a:solidFill>
                <a:latin typeface="Calibri"/>
              </a:defRPr>
            </a:pPr>
            <a:r>
              <a:t>Push Notifications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80160" y="1920240"/>
            <a:ext cx="4389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CA3AF"/>
                </a:solidFill>
                <a:latin typeface="Calibri"/>
              </a:defRPr>
            </a:pPr>
            <a:r>
              <a:t>Real-time mobile push alerts when tracked product prices drop below the user’s target price.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63640" y="1371600"/>
            <a:ext cx="5440680" cy="1371600"/>
          </a:xfrm>
          <a:prstGeom prst="roundRect">
            <a:avLst>
              <a:gd name="adj" fmla="val 5000"/>
            </a:avLst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537960" y="150876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CCFF00"/>
                </a:solidFill>
                <a:latin typeface="Calibri"/>
              </a:defRPr>
            </a:pPr>
            <a: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95160" y="1508760"/>
            <a:ext cx="4389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FFFFFF"/>
                </a:solidFill>
                <a:latin typeface="Calibri"/>
              </a:defRPr>
            </a:pPr>
            <a:r>
              <a:t>Email Notifications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995160" y="1920240"/>
            <a:ext cx="4389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CA3AF"/>
                </a:solidFill>
                <a:latin typeface="Calibri"/>
              </a:defRPr>
            </a:pPr>
            <a:r>
              <a:t>Email digests for price drops, weekly deal summaries, and alert confirmations.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3017520"/>
            <a:ext cx="5440680" cy="1371600"/>
          </a:xfrm>
          <a:prstGeom prst="roundRect">
            <a:avLst>
              <a:gd name="adj" fmla="val 5000"/>
            </a:avLst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22960" y="315468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CCFF00"/>
                </a:solidFill>
                <a:latin typeface="Calibri"/>
              </a:defRPr>
            </a:pPr>
            <a: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80160" y="3154680"/>
            <a:ext cx="4389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FFFFFF"/>
                </a:solidFill>
                <a:latin typeface="Calibri"/>
              </a:defRPr>
            </a:pPr>
            <a:r>
              <a:t>Personalized Recommendations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80160" y="3566160"/>
            <a:ext cx="4389120" cy="4924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CA3AF"/>
                </a:solidFill>
                <a:latin typeface="Calibri"/>
              </a:defRPr>
            </a:pPr>
            <a:r>
              <a:rPr lang="en-US" dirty="0"/>
              <a:t>Intelligent</a:t>
            </a:r>
            <a:r>
              <a:rPr dirty="0"/>
              <a:t> product suggestions based on user browsing history, </a:t>
            </a:r>
            <a:r>
              <a:rPr dirty="0" err="1"/>
              <a:t>wishlist</a:t>
            </a:r>
            <a:r>
              <a:rPr dirty="0"/>
              <a:t>, and search patterns.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63640" y="3017520"/>
            <a:ext cx="5440680" cy="1371600"/>
          </a:xfrm>
          <a:prstGeom prst="roundRect">
            <a:avLst>
              <a:gd name="adj" fmla="val 5000"/>
            </a:avLst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537960" y="315468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CCFF00"/>
                </a:solidFill>
                <a:latin typeface="Calibri"/>
              </a:defRPr>
            </a:pPr>
            <a: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995160" y="3154680"/>
            <a:ext cx="4389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FFFFFF"/>
                </a:solidFill>
                <a:latin typeface="Calibri"/>
              </a:defRPr>
            </a:pPr>
            <a:r>
              <a:t>Scheduled Price Refresh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995160" y="3566160"/>
            <a:ext cx="4389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CA3AF"/>
                </a:solidFill>
                <a:latin typeface="Calibri"/>
              </a:defRPr>
            </a:pPr>
            <a:r>
              <a:t>Automated background price updates at regular intervals to ensure data is always current.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48640" y="4663440"/>
            <a:ext cx="5440680" cy="1371600"/>
          </a:xfrm>
          <a:prstGeom prst="roundRect">
            <a:avLst>
              <a:gd name="adj" fmla="val 5000"/>
            </a:avLst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822960" y="480060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CCFF00"/>
                </a:solidFill>
                <a:latin typeface="Calibri"/>
              </a:defRPr>
            </a:pPr>
            <a:r>
              <a:t>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280160" y="4800600"/>
            <a:ext cx="4389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FFFFFF"/>
                </a:solidFill>
                <a:latin typeface="Calibri"/>
              </a:defRPr>
            </a:pPr>
            <a:r>
              <a:t>More Store Integrations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280160" y="5212080"/>
            <a:ext cx="4389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CA3AF"/>
                </a:solidFill>
                <a:latin typeface="Calibri"/>
              </a:defRPr>
            </a:pPr>
            <a:r>
              <a:t>Expand coverage to additional Pakistani e-commerce platforms and international stores.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263640" y="4663440"/>
            <a:ext cx="5440680" cy="1371600"/>
          </a:xfrm>
          <a:prstGeom prst="roundRect">
            <a:avLst>
              <a:gd name="adj" fmla="val 5000"/>
            </a:avLst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6537960" y="480060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CCFF00"/>
                </a:solidFill>
                <a:latin typeface="Calibri"/>
              </a:defRPr>
            </a:pPr>
            <a:r>
              <a:t>6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995160" y="4800600"/>
            <a:ext cx="4389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FFFFFF"/>
                </a:solidFill>
                <a:latin typeface="Calibri"/>
              </a:defRPr>
            </a:pPr>
            <a:r>
              <a:rPr dirty="0"/>
              <a:t>Browser Extension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995160" y="5212080"/>
            <a:ext cx="4389120" cy="6924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CA3AF"/>
                </a:solidFill>
                <a:latin typeface="Calibri"/>
              </a:defRPr>
            </a:pPr>
            <a:r>
              <a:rPr dirty="0"/>
              <a:t>A Chrome/Firefox extension that shows </a:t>
            </a:r>
            <a:r>
              <a:rPr dirty="0" err="1"/>
              <a:t>Bhao.pk</a:t>
            </a:r>
            <a:r>
              <a:rPr dirty="0"/>
              <a:t> price comparisons while browsing any store.</a:t>
            </a:r>
            <a:r>
              <a:rPr lang="en-US" dirty="0"/>
              <a:t> (Not in project scope but in the future)</a:t>
            </a:r>
            <a:endParaRPr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CCF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bhao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03520" y="914400"/>
            <a:ext cx="1371600" cy="13716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0" y="2560320"/>
            <a:ext cx="121916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200" b="1">
                <a:solidFill>
                  <a:srgbClr val="CCFF00"/>
                </a:solidFill>
                <a:latin typeface="Calibri"/>
              </a:defRPr>
            </a:pPr>
            <a:r>
              <a:t>THANK YOU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3383280"/>
            <a:ext cx="121916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>
                <a:solidFill>
                  <a:srgbClr val="FFFFFF"/>
                </a:solidFill>
                <a:latin typeface="Calibri"/>
              </a:defRPr>
            </a:pPr>
            <a:r>
              <a:t>Questions &amp; Discussion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0" y="4023360"/>
            <a:ext cx="2133295" cy="36576"/>
          </a:xfrm>
          <a:prstGeom prst="rect">
            <a:avLst/>
          </a:prstGeom>
          <a:solidFill>
            <a:srgbClr val="CCF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0" y="4572000"/>
            <a:ext cx="121916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9CA3AF"/>
                </a:solidFill>
                <a:latin typeface="Calibri"/>
              </a:defRPr>
            </a:pPr>
            <a:r>
              <a:t>Muhammad Ahad Ali Khan  •  Sheryar Karim  •  Muhammad Haris Jamali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0" y="5029200"/>
            <a:ext cx="121916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6B7280"/>
                </a:solidFill>
                <a:latin typeface="Calibri"/>
              </a:defRPr>
            </a:pPr>
            <a:r>
              <a:t>Supervised by Dr. Najam Aziz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0" y="5669280"/>
            <a:ext cx="121916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6B7280"/>
                </a:solidFill>
                <a:latin typeface="Calibri"/>
              </a:defRPr>
            </a:pPr>
            <a:r>
              <a:t>Department of Computer Science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0" y="5943600"/>
            <a:ext cx="121916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6B7280"/>
                </a:solidFill>
                <a:latin typeface="Calibri"/>
              </a:defRPr>
            </a:pPr>
            <a:r>
              <a:t>Capital University of Science &amp; Technology, Islamabad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803136"/>
            <a:ext cx="12191695" cy="54864"/>
          </a:xfrm>
          <a:prstGeom prst="rect">
            <a:avLst/>
          </a:prstGeom>
          <a:solidFill>
            <a:srgbClr val="CCF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10</TotalTime>
  <Words>931</Words>
  <Application>Microsoft Macintosh PowerPoint</Application>
  <PresentationFormat>Widescreen</PresentationFormat>
  <Paragraphs>179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/>
  <cp:keywords/>
  <dc:description>generated using python-pptx</dc:description>
  <cp:lastModifiedBy>Ahad</cp:lastModifiedBy>
  <cp:revision>5</cp:revision>
  <dcterms:created xsi:type="dcterms:W3CDTF">2013-01-27T09:14:16Z</dcterms:created>
  <dcterms:modified xsi:type="dcterms:W3CDTF">2026-02-14T23:41:53Z</dcterms:modified>
  <cp:category/>
</cp:coreProperties>
</file>