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96"/>
    <p:restoredTop sz="94651"/>
  </p:normalViewPr>
  <p:slideViewPr>
    <p:cSldViewPr snapToGrid="0" snapToObjects="1">
      <p:cViewPr varScale="1">
        <p:scale>
          <a:sx n="144" d="100"/>
          <a:sy n="144" d="100"/>
        </p:scale>
        <p:origin x="208" y="2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ha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54864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73736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CCFF00"/>
                </a:solidFill>
                <a:latin typeface="Calibri"/>
              </a:defRPr>
            </a:pPr>
            <a:r>
              <a:t>BHAO.PK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46888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Centralized E-Commerce Product Search &amp; Price Monitoring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3108960"/>
            <a:ext cx="2133295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3383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t>Supervised by: Dr. Najam Aziz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40967" y="4114800"/>
            <a:ext cx="2926080" cy="10058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40967" y="4297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Muhammad Ahad Ali Khan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0967" y="4663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FF00"/>
                </a:solidFill>
                <a:latin typeface="Calibri"/>
              </a:defRPr>
            </a:pPr>
            <a:r>
              <a:t>BCS213129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2807" y="4114800"/>
            <a:ext cx="2926080" cy="10058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32807" y="4297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Sheryar Karim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2807" y="4663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FF00"/>
                </a:solidFill>
                <a:latin typeface="Calibri"/>
              </a:defRPr>
            </a:pPr>
            <a:r>
              <a:t>BCS221074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4647" y="4114800"/>
            <a:ext cx="2926080" cy="10058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24647" y="4297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Muhammad Haris Jamali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4647" y="4663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FF00"/>
                </a:solidFill>
                <a:latin typeface="Calibri"/>
              </a:defRPr>
            </a:pPr>
            <a:r>
              <a:t>BCS221027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Department of Computer Science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Calibri"/>
              </a:defRPr>
            </a:pPr>
            <a:r>
              <a:t>Capital University of Science &amp; Technology, Islamabad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30936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Fall 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CFF00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82880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19202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05840" y="1920240"/>
            <a:ext cx="457200" cy="45720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9202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No Centralized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77440"/>
            <a:ext cx="393192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Calibri"/>
              </a:defRPr>
            </a:pPr>
            <a:r>
              <a:rPr dirty="0"/>
              <a:t>Pakistani consumers have no unified platform to compare prices across multiple e-commerce stores like </a:t>
            </a:r>
            <a:r>
              <a:rPr dirty="0" err="1"/>
              <a:t>Daraz</a:t>
            </a:r>
            <a:r>
              <a:rPr dirty="0"/>
              <a:t>, </a:t>
            </a:r>
            <a:r>
              <a:rPr lang="en-US" dirty="0" err="1"/>
              <a:t>telemart</a:t>
            </a:r>
            <a:r>
              <a:rPr dirty="0"/>
              <a:t>, and </a:t>
            </a:r>
            <a:r>
              <a:rPr lang="en-US" dirty="0" err="1"/>
              <a:t>shopive</a:t>
            </a:r>
            <a:r>
              <a:rPr dirty="0"/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212080" cy="19202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83680" y="1920240"/>
            <a:ext cx="457200" cy="45720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19202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Manual Price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377440"/>
            <a:ext cx="393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Calibri"/>
              </a:defRPr>
            </a:pPr>
            <a:r>
              <a:t>Shoppers manually visit multiple websites and social media groups to find the best deals — a time-consuming and unreliable process.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212080" cy="19202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05840" y="4206240"/>
            <a:ext cx="457200" cy="45720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2062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No Price History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663440"/>
            <a:ext cx="393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Calibri"/>
              </a:defRPr>
            </a:pPr>
            <a:r>
              <a:t>There is no way to view historical price trends, making it impossible to know if a “sale” price is genuinely discounted.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931920"/>
            <a:ext cx="5212080" cy="19202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83680" y="4206240"/>
            <a:ext cx="457200" cy="45720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2062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Missed Deals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663440"/>
            <a:ext cx="393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Calibri"/>
              </a:defRPr>
            </a:pPr>
            <a:r>
              <a:t>Without automated alerts, consumers miss price drops on products they’re interested in, often paying more than necessary.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CFF00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82880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Bhao.pk is Pakistan’s first intelligent price comparison platform that aggregates products from multiple Pakistani e-commerce stores into one unified experience.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633472"/>
            <a:ext cx="109728" cy="109728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80160" y="2560320"/>
            <a:ext cx="6400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rPr dirty="0"/>
              <a:t>Search once, compare prices across </a:t>
            </a:r>
            <a:r>
              <a:rPr dirty="0" err="1"/>
              <a:t>Daraz</a:t>
            </a:r>
            <a:r>
              <a:rPr dirty="0"/>
              <a:t>, </a:t>
            </a:r>
            <a:r>
              <a:rPr lang="en-US" dirty="0" err="1"/>
              <a:t>Shopive</a:t>
            </a:r>
            <a:r>
              <a:rPr dirty="0"/>
              <a:t>, </a:t>
            </a:r>
            <a:r>
              <a:rPr lang="en-US" dirty="0" err="1"/>
              <a:t>Telemart</a:t>
            </a:r>
            <a:r>
              <a:rPr dirty="0"/>
              <a:t> &amp; more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136392"/>
            <a:ext cx="109728" cy="109728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30632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Sort &amp; filter results by price, store, and category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639312"/>
            <a:ext cx="109728" cy="109728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356616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Track price history with visual charts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2"/>
            <a:ext cx="109728" cy="109728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406908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Set price alerts — get notified when prices drop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645152"/>
            <a:ext cx="109728" cy="109728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80160" y="457200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Save products to your personal wishlist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148072"/>
            <a:ext cx="109728" cy="109728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80160" y="50749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Available on both Mobile App and Web</a:t>
            </a:r>
          </a:p>
        </p:txBody>
      </p:sp>
      <p:pic>
        <p:nvPicPr>
          <p:cNvPr id="18" name="Picture 17" descr="4.1-Search 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1703" y="865084"/>
            <a:ext cx="2121408" cy="4714240"/>
          </a:xfrm>
          <a:prstGeom prst="rect">
            <a:avLst/>
          </a:prstGeom>
        </p:spPr>
      </p:pic>
      <p:pic>
        <p:nvPicPr>
          <p:cNvPr id="19" name="Picture 18" descr="4.2-Search results  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1265" y="822960"/>
            <a:ext cx="2121408" cy="4714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CFF00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CFF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Smart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Search products across multiple Pakistani stores with a single query. Real-time suggestions as you type.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28016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0332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CFF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8745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Price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19456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rPr dirty="0"/>
              <a:t>View prices from different vendors on a unified product page. Instantly spot the best deal.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28016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CFF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8745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Sort &amp;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194560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Sort results by price (low to high) and filter by specific stores or price ranges.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20" y="128016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6404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CFF00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18745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Price Alerts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194560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Set a target price for any product. The system monitors prices and notifies you when it drops.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84048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40233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CFF00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4348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Price History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754880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View graphical charts showing how a product’s price has changed over time across stores.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9000" y="384048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703320" y="40233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CFF00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44348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Wishlist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4754880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Save interesting products to your personal wishlist for quick access later.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84048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0" y="40233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CFF00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4348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User Accounts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754880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Create an account to sync your wishlist, alerts, and preferences across devices.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3840480"/>
            <a:ext cx="2697480" cy="21945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464040" y="40233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CFF00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4348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Admin 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4040" y="4754880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Administrative panel for monitoring platform statistics and system health.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CFF00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698480" cy="5303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oftwareArchitecture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32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CFF00"/>
                </a:solidFill>
                <a:latin typeface="Calibri"/>
              </a:defRPr>
            </a:pPr>
            <a:r>
              <a:t>CLASS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698480" cy="5303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lassDiagramUpd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32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CFF00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697480" cy="47548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CFF00"/>
                </a:solidFill>
                <a:latin typeface="Calibri"/>
              </a:defRPr>
            </a:pPr>
            <a:r>
              <a:t>MOBILE 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2103120"/>
            <a:ext cx="123444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20" y="246888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57860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React Native 0.81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40156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Expo SDK 54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422452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TypeScript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504748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rPr dirty="0" err="1"/>
              <a:t>AsyncStorage</a:t>
            </a:r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3429000" y="1371600"/>
            <a:ext cx="2697480" cy="47548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29000" y="164592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CFF00"/>
                </a:solidFill>
                <a:latin typeface="Calibri"/>
              </a:defRPr>
            </a:pPr>
            <a:r>
              <a:t>WEB APP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103120"/>
            <a:ext cx="123444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611880" y="246888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11880" y="257860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Next.js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11880" y="329184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11880" y="340156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React 19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411480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11880" y="422452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TypeScript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11880" y="493776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11880" y="504748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Responsive Design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1371600"/>
            <a:ext cx="2697480" cy="47548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09360" y="164592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CFF00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2103120"/>
            <a:ext cx="123444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92240" y="246888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92240" y="257860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RESTful API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329184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340156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JWT Authentication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411480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92240" y="422452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Web Scraping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92240" y="493776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92240" y="504748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Price Monitoring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89720" y="1371600"/>
            <a:ext cx="2697480" cy="47548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89720" y="164592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CFF00"/>
                </a:solidFill>
                <a:latin typeface="Calibri"/>
              </a:defRPr>
            </a:pPr>
            <a:r>
              <a:t>DESIGN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21240" y="2103120"/>
            <a:ext cx="123444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372600" y="246888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372600" y="257860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Dark Theme UI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72600" y="329184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372600" y="340156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Archivo Font Family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72600" y="411480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372600" y="422452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Component Library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372600" y="4937760"/>
            <a:ext cx="2331720" cy="594360"/>
          </a:xfrm>
          <a:prstGeom prst="roundRect">
            <a:avLst>
              <a:gd name="adj" fmla="val 500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372600" y="504748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Cross-Platform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CFF00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97280" y="1828800"/>
            <a:ext cx="914400" cy="91440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000000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User types a</a:t>
            </a:r>
            <a:br/>
            <a:r>
              <a:t>product name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377440" y="2103120"/>
            <a:ext cx="365760" cy="320040"/>
          </a:xfrm>
          <a:prstGeom prst="rightArrow">
            <a:avLst/>
          </a:prstGeom>
          <a:solidFill>
            <a:srgbClr val="3D4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000000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30175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AGGREGATE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747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System searches</a:t>
            </a:r>
            <a:br/>
            <a:r>
              <a:t>across all stores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63440" y="2103120"/>
            <a:ext cx="365760" cy="320040"/>
          </a:xfrm>
          <a:prstGeom prst="rightArrow">
            <a:avLst/>
          </a:prstGeom>
          <a:solidFill>
            <a:srgbClr val="3D4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669280" y="1828800"/>
            <a:ext cx="914400" cy="91440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000000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0175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474720"/>
            <a:ext cx="21945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rPr dirty="0"/>
              <a:t>Prices displayed</a:t>
            </a:r>
            <a:br>
              <a:rPr dirty="0"/>
            </a:br>
            <a:r>
              <a:rPr lang="en-US" dirty="0"/>
              <a:t>on a single page</a:t>
            </a:r>
            <a:endParaRPr dirty="0"/>
          </a:p>
        </p:txBody>
      </p:sp>
      <p:sp>
        <p:nvSpPr>
          <p:cNvPr id="16" name="Right Arrow 15"/>
          <p:cNvSpPr/>
          <p:nvPr/>
        </p:nvSpPr>
        <p:spPr>
          <a:xfrm>
            <a:off x="6949440" y="2103120"/>
            <a:ext cx="365760" cy="320040"/>
          </a:xfrm>
          <a:prstGeom prst="rightArrow">
            <a:avLst/>
          </a:prstGeom>
          <a:solidFill>
            <a:srgbClr val="3D4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955280" y="1828800"/>
            <a:ext cx="914400" cy="91440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000000"/>
                </a:solidFill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0175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4747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User picks the</a:t>
            </a:r>
            <a:br/>
            <a:r>
              <a:t>best deal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235440" y="2103120"/>
            <a:ext cx="365760" cy="320040"/>
          </a:xfrm>
          <a:prstGeom prst="rightArrow">
            <a:avLst/>
          </a:prstGeom>
          <a:solidFill>
            <a:srgbClr val="3D4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241280" y="1828800"/>
            <a:ext cx="914400" cy="91440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000000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0175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TRACK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4747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Set alerts &amp;</a:t>
            </a:r>
            <a:br/>
            <a:r>
              <a:t>save to wishlist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Bhao.pk automatically collects product data from multiple Pakistani e-commerce platforms. When a user searches for a product, the system instantly shows prices from every available store, helping users find the lowest price without visiting each site individually.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CFF00"/>
                </a:solidFill>
                <a:latin typeface="Calibri"/>
              </a:defRPr>
            </a:pPr>
            <a:r>
              <a:t>SEARCH &amp; COMPARE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One Search. Every Store.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17627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Type any product name in the search bar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77063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2697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See real-time suggestions as you type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36499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3291840"/>
            <a:ext cx="50292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rPr dirty="0"/>
              <a:t>Results from </a:t>
            </a:r>
            <a:r>
              <a:rPr dirty="0" err="1"/>
              <a:t>Daraz</a:t>
            </a:r>
            <a:r>
              <a:rPr dirty="0"/>
              <a:t>, </a:t>
            </a:r>
            <a:r>
              <a:rPr lang="en-US" dirty="0" err="1"/>
              <a:t>Telemart</a:t>
            </a:r>
            <a:r>
              <a:rPr dirty="0"/>
              <a:t>, </a:t>
            </a:r>
            <a:r>
              <a:rPr lang="en-US" dirty="0" err="1"/>
              <a:t>Shopive</a:t>
            </a:r>
            <a:r>
              <a:rPr dirty="0"/>
              <a:t> appear together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95935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3886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Each result shows the product name, price, and which store it’s from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55371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4480560"/>
            <a:ext cx="50292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rPr dirty="0"/>
              <a:t>Tap any product to see the full </a:t>
            </a:r>
            <a:r>
              <a:rPr lang="en-US" dirty="0"/>
              <a:t>product</a:t>
            </a:r>
            <a:r>
              <a:rPr dirty="0"/>
              <a:t> page</a:t>
            </a:r>
            <a:r>
              <a:rPr lang="en-US" dirty="0"/>
              <a:t> with price history</a:t>
            </a:r>
            <a:endParaRPr dirty="0"/>
          </a:p>
        </p:txBody>
      </p:sp>
      <p:pic>
        <p:nvPicPr>
          <p:cNvPr id="16" name="Picture 15" descr="4.1-Search 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731520"/>
            <a:ext cx="2286000" cy="5029200"/>
          </a:xfrm>
          <a:prstGeom prst="rect">
            <a:avLst/>
          </a:prstGeom>
        </p:spPr>
      </p:pic>
      <p:pic>
        <p:nvPicPr>
          <p:cNvPr id="17" name="Picture 16" descr="4.2-Search results  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1097280"/>
            <a:ext cx="2286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CFF00"/>
                </a:solidFill>
                <a:latin typeface="Calibri"/>
              </a:defRPr>
            </a:pPr>
            <a:r>
              <a:t>FILTER &amp; SORT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Find Exactly What You Need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17627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Sort results by price: lowest first or highest first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77063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2697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Filter by specific store (e.g., show only Daraz products)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36499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Set a minimum and maximum price range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95935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3886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Combine filters to narrow down the perfect product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55371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Results update instantly when filters change</a:t>
            </a:r>
          </a:p>
        </p:txBody>
      </p:sp>
      <p:pic>
        <p:nvPicPr>
          <p:cNvPr id="16" name="Picture 15" descr="4.3-Sort 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731520"/>
            <a:ext cx="2286000" cy="5029200"/>
          </a:xfrm>
          <a:prstGeom prst="rect">
            <a:avLst/>
          </a:prstGeom>
        </p:spPr>
      </p:pic>
      <p:pic>
        <p:nvPicPr>
          <p:cNvPr id="17" name="Picture 16" descr="4.4-Filter modal 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1097280"/>
            <a:ext cx="2286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CFF00"/>
                </a:solidFill>
                <a:latin typeface="Calibri"/>
              </a:defRPr>
            </a:pPr>
            <a:r>
              <a:t>PRICE ALERTS &amp; WISHLIST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Never Miss a Deal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17627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Set a target price for any product you’re watching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77063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2697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The system continuously monitors prices in the background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36499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Get notified immediately when the price drops to your target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95935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3886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Save products to your wishlist with one tap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55371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Access your saved items anytime from your profile</a:t>
            </a:r>
          </a:p>
        </p:txBody>
      </p:sp>
      <p:pic>
        <p:nvPicPr>
          <p:cNvPr id="16" name="Picture 15" descr="4.12-Set price alert 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731520"/>
            <a:ext cx="2286000" cy="5029200"/>
          </a:xfrm>
          <a:prstGeom prst="rect">
            <a:avLst/>
          </a:prstGeom>
        </p:spPr>
      </p:pic>
      <p:pic>
        <p:nvPicPr>
          <p:cNvPr id="17" name="Picture 16" descr="4.11-Wishlist 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1097280"/>
            <a:ext cx="2286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CFF00"/>
                </a:solidFill>
                <a:latin typeface="Calibri"/>
              </a:defRPr>
            </a:pPr>
            <a:r>
              <a:t>USER ACCOUNTS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Secure &amp; Simple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17627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Create an account with name, email, and password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72491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26517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Smart form validation catches errors before submission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27355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Secure login with password visibility toggle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82219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3749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Password recovery via email for forgotten passwords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7083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4297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Guest mode available — browse without signing up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19472"/>
            <a:ext cx="91440" cy="914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4846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Calibri"/>
              </a:defRPr>
            </a:pPr>
            <a:r>
              <a:t>One-tap logout with confirmation for safety</a:t>
            </a:r>
          </a:p>
        </p:txBody>
      </p:sp>
      <p:pic>
        <p:nvPicPr>
          <p:cNvPr id="18" name="Picture 17" descr="4.5-Signup screen  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920" y="956730"/>
            <a:ext cx="2133600" cy="4741333"/>
          </a:xfrm>
          <a:prstGeom prst="rect">
            <a:avLst/>
          </a:prstGeom>
        </p:spPr>
      </p:pic>
      <p:pic>
        <p:nvPicPr>
          <p:cNvPr id="19" name="Picture 18" descr="4.7-Login 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914399"/>
            <a:ext cx="2133600" cy="4741333"/>
          </a:xfrm>
          <a:prstGeom prst="rect">
            <a:avLst/>
          </a:prstGeom>
        </p:spPr>
      </p:pic>
      <p:pic>
        <p:nvPicPr>
          <p:cNvPr id="20" name="Picture 19" descr="4.8-Profile sc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3120" y="873508"/>
            <a:ext cx="2133600" cy="47413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CFF00"/>
                </a:solidFill>
                <a:latin typeface="Calibri"/>
              </a:defRPr>
            </a:pPr>
            <a:r>
              <a:t>TESTING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Black Box Testing — 8 functional requirements tested, all passed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69748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  <a:latin typeface="Calibri"/>
              </a:defRPr>
            </a:pPr>
            <a:r>
              <a:t>TC-01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6032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Product 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3108960"/>
            <a:ext cx="1417320" cy="411480"/>
          </a:xfrm>
          <a:prstGeom prst="roundRect">
            <a:avLst>
              <a:gd name="adj" fmla="val 5000"/>
            </a:avLst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3127248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0000"/>
                </a:solidFill>
                <a:latin typeface="Calibri"/>
              </a:defRPr>
            </a:pPr>
            <a:r>
              <a:t>PASSED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103120"/>
            <a:ext cx="269748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29000" y="22860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  <a:latin typeface="Calibri"/>
              </a:defRPr>
            </a:pPr>
            <a:r>
              <a:t>TC-02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56032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Sort by Price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3108960"/>
            <a:ext cx="1417320" cy="411480"/>
          </a:xfrm>
          <a:prstGeom prst="roundRect">
            <a:avLst>
              <a:gd name="adj" fmla="val 5000"/>
            </a:avLst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69080" y="3127248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0000"/>
                </a:solidFill>
                <a:latin typeface="Calibri"/>
              </a:defRPr>
            </a:pPr>
            <a:r>
              <a:t>PASSED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103120"/>
            <a:ext cx="269748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  <a:latin typeface="Calibri"/>
              </a:defRPr>
            </a:pPr>
            <a:r>
              <a:t>TC-03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56032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Filter by Store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3108960"/>
            <a:ext cx="1417320" cy="411480"/>
          </a:xfrm>
          <a:prstGeom prst="roundRect">
            <a:avLst>
              <a:gd name="adj" fmla="val 5000"/>
            </a:avLst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0" y="3127248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0000"/>
                </a:solidFill>
                <a:latin typeface="Calibri"/>
              </a:defRPr>
            </a:pPr>
            <a:r>
              <a:t>PASSED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2103120"/>
            <a:ext cx="269748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89720" y="22860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  <a:latin typeface="Calibri"/>
              </a:defRPr>
            </a:pPr>
            <a:r>
              <a:t>TC-04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56032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User Sign 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9800" y="3108960"/>
            <a:ext cx="1417320" cy="411480"/>
          </a:xfrm>
          <a:prstGeom prst="roundRect">
            <a:avLst>
              <a:gd name="adj" fmla="val 5000"/>
            </a:avLst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29800" y="3127248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0000"/>
                </a:solidFill>
                <a:latin typeface="Calibri"/>
              </a:defRPr>
            </a:pPr>
            <a:r>
              <a:t>PASSED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114800"/>
            <a:ext cx="269748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429768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  <a:latin typeface="Calibri"/>
              </a:defRPr>
            </a:pPr>
            <a:r>
              <a:t>TC-05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5720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User Login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88720" y="5120640"/>
            <a:ext cx="1417320" cy="411480"/>
          </a:xfrm>
          <a:prstGeom prst="roundRect">
            <a:avLst>
              <a:gd name="adj" fmla="val 5000"/>
            </a:avLst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88720" y="5138928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0000"/>
                </a:solidFill>
                <a:latin typeface="Calibri"/>
              </a:defRPr>
            </a:pPr>
            <a:r>
              <a:t>PASSED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9000" y="4114800"/>
            <a:ext cx="269748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29000" y="429768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  <a:latin typeface="Calibri"/>
              </a:defRPr>
            </a:pPr>
            <a:r>
              <a:t>TC-06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5720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User Logout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69080" y="5120640"/>
            <a:ext cx="1417320" cy="411480"/>
          </a:xfrm>
          <a:prstGeom prst="roundRect">
            <a:avLst>
              <a:gd name="adj" fmla="val 5000"/>
            </a:avLst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069080" y="5138928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0000"/>
                </a:solidFill>
                <a:latin typeface="Calibri"/>
              </a:defRPr>
            </a:pPr>
            <a:r>
              <a:t>PASSED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4114800"/>
            <a:ext cx="269748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09360" y="429768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  <a:latin typeface="Calibri"/>
              </a:defRPr>
            </a:pPr>
            <a:r>
              <a:t>TC-07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5720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Add to Wishlist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9440" y="5120640"/>
            <a:ext cx="1417320" cy="411480"/>
          </a:xfrm>
          <a:prstGeom prst="roundRect">
            <a:avLst>
              <a:gd name="adj" fmla="val 5000"/>
            </a:avLst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949440" y="5138928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0000"/>
                </a:solidFill>
                <a:latin typeface="Calibri"/>
              </a:defRPr>
            </a:pPr>
            <a:r>
              <a:t>PASSED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89720" y="4114800"/>
            <a:ext cx="269748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3D4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89720" y="429768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  <a:latin typeface="Calibri"/>
              </a:defRPr>
            </a:pPr>
            <a:r>
              <a:t>TC-08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9720" y="45720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Set Price Alert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29800" y="5120640"/>
            <a:ext cx="1417320" cy="411480"/>
          </a:xfrm>
          <a:prstGeom prst="roundRect">
            <a:avLst>
              <a:gd name="adj" fmla="val 5000"/>
            </a:avLst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829800" y="5138928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0000"/>
                </a:solidFill>
                <a:latin typeface="Calibri"/>
              </a:defRPr>
            </a:pPr>
            <a:r>
              <a:t>PASSED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6126480"/>
            <a:ext cx="11064240" cy="548640"/>
          </a:xfrm>
          <a:prstGeom prst="roundRect">
            <a:avLst>
              <a:gd name="adj" fmla="val 5000"/>
            </a:avLst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8640" y="614476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Calibri"/>
              </a:defRPr>
            </a:pPr>
            <a:r>
              <a:t>8 / 8  TEST CASES PASSED   —   100% SUCCESS RATE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CFF00"/>
                </a:solidFill>
                <a:latin typeface="Calibri"/>
              </a:defRPr>
            </a:pPr>
            <a:r>
              <a:t>FUTURE ENHANCEMENTS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0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440680" cy="1371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FF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087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Push Notifications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92024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Calibri"/>
              </a:defRPr>
            </a:pPr>
            <a:r>
              <a:t>Real-time mobile push alerts when tracked product prices drop below the user’s target price.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5440680" cy="1371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5087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FF0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15087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Email Notifications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192024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Calibri"/>
              </a:defRPr>
            </a:pPr>
            <a:r>
              <a:t>Email digests for price drops, weekly deal summaries, and alert confirmations.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5440680" cy="1371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3154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FF0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1546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Personalized Recommendations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566160"/>
            <a:ext cx="4389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Calibri"/>
              </a:defRPr>
            </a:pPr>
            <a:r>
              <a:rPr lang="en-US" dirty="0"/>
              <a:t>Intelligent</a:t>
            </a:r>
            <a:r>
              <a:rPr dirty="0"/>
              <a:t> product suggestions based on user browsing history, </a:t>
            </a:r>
            <a:r>
              <a:rPr dirty="0" err="1"/>
              <a:t>wishlist</a:t>
            </a:r>
            <a:r>
              <a:rPr dirty="0"/>
              <a:t>, and search patterns.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017520"/>
            <a:ext cx="5440680" cy="1371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3154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FF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31546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Scheduled Price Refresh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356616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Calibri"/>
              </a:defRPr>
            </a:pPr>
            <a:r>
              <a:t>Automated background price updates at regular intervals to ensure data is always current.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663440"/>
            <a:ext cx="5440680" cy="1371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4800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FF0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00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More Store Integrations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Calibri"/>
              </a:defRPr>
            </a:pPr>
            <a:r>
              <a:t>Expand coverage to additional Pakistani e-commerce platforms and international stores.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663440"/>
            <a:ext cx="5440680" cy="1371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37960" y="4800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FF0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4800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rPr dirty="0"/>
              <a:t>Browser Extension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60" y="5212080"/>
            <a:ext cx="438912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Calibri"/>
              </a:defRPr>
            </a:pPr>
            <a:r>
              <a:rPr dirty="0"/>
              <a:t>A Chrome/Firefox extension that shows </a:t>
            </a:r>
            <a:r>
              <a:rPr dirty="0" err="1"/>
              <a:t>Bhao.pk</a:t>
            </a:r>
            <a:r>
              <a:rPr dirty="0"/>
              <a:t> price comparisons while browsing any store.</a:t>
            </a:r>
            <a:r>
              <a:rPr lang="en-US" dirty="0"/>
              <a:t> (Not in project scope but in the future)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ha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91440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2560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CCFF00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3832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023360"/>
            <a:ext cx="2133295" cy="36576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t>Muhammad Ahad Ali Khan  •  Sheryar Karim  •  Muhammad Haris Jamali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Calibri"/>
              </a:defRPr>
            </a:pPr>
            <a:r>
              <a:t>Supervised by Dr. Najam Aziz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Calibri"/>
              </a:defRPr>
            </a:pPr>
            <a:r>
              <a:t>Department of Computer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Capital University of Science &amp; Technology, Islamabad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822</TotalTime>
  <Words>931</Words>
  <Application>Microsoft Macintosh PowerPoint</Application>
  <PresentationFormat>Widescreen</PresentationFormat>
  <Paragraphs>179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Ahad</cp:lastModifiedBy>
  <cp:revision>6</cp:revision>
  <dcterms:created xsi:type="dcterms:W3CDTF">2013-01-27T09:14:16Z</dcterms:created>
  <dcterms:modified xsi:type="dcterms:W3CDTF">2026-02-17T12:47:05Z</dcterms:modified>
  <cp:category/>
</cp:coreProperties>
</file>